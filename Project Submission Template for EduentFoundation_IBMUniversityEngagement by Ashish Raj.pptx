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83" r:id="rId2"/>
    <p:sldId id="257" r:id="rId3"/>
    <p:sldId id="258" r:id="rId4"/>
    <p:sldId id="259" r:id="rId5"/>
    <p:sldId id="260" r:id="rId6"/>
    <p:sldId id="265" r:id="rId7"/>
    <p:sldId id="290" r:id="rId8"/>
    <p:sldId id="263" r:id="rId9"/>
    <p:sldId id="287" r:id="rId10"/>
    <p:sldId id="289" r:id="rId11"/>
    <p:sldId id="266" r:id="rId12"/>
    <p:sldId id="267" r:id="rId13"/>
    <p:sldId id="268" r:id="rId14"/>
    <p:sldId id="27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86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3580F-B129-633B-07C5-459D15D48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4C440E-81EF-2431-66D1-1C5A7E77CF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4F5D17-5041-B9C7-F68B-8D5B62035A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5D82DA-AF77-172D-4426-DDA0CBA33B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1107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9200A-56B3-C9E8-A343-8CC07E272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DAC34B-3D8E-E543-49FD-A134406818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8C50EA-299D-9F24-2C1D-0299145C31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94D31E-122C-6544-3EDB-13EDF4C24E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2642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310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010323152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Ashish Raj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ashishraj1601@gmail.com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7070707480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>
                <a:highlight>
                  <a:srgbClr val="FFFF00"/>
                </a:highlight>
              </a:rPr>
              <a:t>[ Healthcare / Fitness 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400" b="1" dirty="0">
                <a:highlight>
                  <a:srgbClr val="FFFF00"/>
                </a:highlight>
              </a:rPr>
              <a:t>[</a:t>
            </a:r>
            <a:r>
              <a:rPr lang="en-US" sz="2400" b="1" dirty="0">
                <a:solidFill>
                  <a:srgbClr val="00206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Fitness Buddy</a:t>
            </a:r>
            <a:r>
              <a:rPr lang="en-US" sz="2400" b="1" dirty="0">
                <a:highlight>
                  <a:srgbClr val="FFFF00"/>
                </a:highlight>
              </a:rPr>
              <a:t>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1DF34A-FF1F-A234-4781-E45DC148F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075" y="3683879"/>
            <a:ext cx="757545" cy="9739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536"/>
            <a:ext cx="97536" cy="67604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182880"/>
            <a:ext cx="9753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467" dirty="0"/>
          </a:p>
        </p:txBody>
      </p:sp>
      <p:sp>
        <p:nvSpPr>
          <p:cNvPr id="5" name="Text 3"/>
          <p:cNvSpPr/>
          <p:nvPr/>
        </p:nvSpPr>
        <p:spPr>
          <a:xfrm>
            <a:off x="304800" y="73152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i="1" dirty="0">
                <a:solidFill>
                  <a:srgbClr val="6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Fitness Buddy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243840" y="1194816"/>
            <a:ext cx="5669280" cy="2804160"/>
          </a:xfrm>
          <a:prstGeom prst="rect">
            <a:avLst/>
          </a:prstGeom>
          <a:solidFill>
            <a:srgbClr val="132238"/>
          </a:solidFill>
          <a:ln w="12700">
            <a:solidFill>
              <a:srgbClr val="00C6A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43840" y="1194816"/>
            <a:ext cx="5669280" cy="463296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4800" y="1194816"/>
            <a:ext cx="5547360" cy="463296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r>
              <a:rPr lang="en-US" sz="1733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The Challenge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365760" y="1731264"/>
            <a:ext cx="5425440" cy="2170176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t"/>
          <a:lstStyle/>
          <a:p>
            <a:r>
              <a:rPr lang="en-US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today's fast-paced world, many individuals struggle to maintain a healthy lifestyle due to:</a:t>
            </a:r>
            <a:endParaRPr lang="en-US" dirty="0"/>
          </a:p>
          <a:p>
            <a:pPr marL="457189" indent="-457189">
              <a:buSzPct val="100000"/>
              <a:buChar char="•"/>
            </a:pPr>
            <a:r>
              <a:rPr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personalized fitness guidance</a:t>
            </a:r>
            <a:endParaRPr lang="en-US" dirty="0"/>
          </a:p>
          <a:p>
            <a:pPr marL="457189" indent="-457189">
              <a:buSzPct val="100000"/>
              <a:buChar char="•"/>
            </a:pPr>
            <a:r>
              <a:rPr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constraints and rigid schedules</a:t>
            </a:r>
            <a:endParaRPr lang="en-US" dirty="0"/>
          </a:p>
          <a:p>
            <a:pPr marL="457189" indent="-457189">
              <a:buSzPct val="100000"/>
              <a:buChar char="•"/>
            </a:pPr>
            <a:r>
              <a:rPr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motivation and no accountability</a:t>
            </a:r>
            <a:endParaRPr lang="en-US" dirty="0"/>
          </a:p>
          <a:p>
            <a:pPr marL="457189" indent="-457189">
              <a:buSzPct val="100000"/>
              <a:buChar char="•"/>
            </a:pPr>
            <a:r>
              <a:rPr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subscriptions and in-person consultations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217920" y="1194816"/>
            <a:ext cx="5669280" cy="2804160"/>
          </a:xfrm>
          <a:prstGeom prst="rect">
            <a:avLst/>
          </a:prstGeom>
          <a:solidFill>
            <a:srgbClr val="132238"/>
          </a:solidFill>
          <a:ln w="12700">
            <a:solidFill>
              <a:srgbClr val="0078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1194816"/>
            <a:ext cx="5669280" cy="46329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78880" y="1194816"/>
            <a:ext cx="5547360" cy="463296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The Objective</a:t>
            </a:r>
            <a:endParaRPr lang="en-US" sz="1733" dirty="0"/>
          </a:p>
        </p:txBody>
      </p:sp>
      <p:sp>
        <p:nvSpPr>
          <p:cNvPr id="13" name="Text 11"/>
          <p:cNvSpPr/>
          <p:nvPr/>
        </p:nvSpPr>
        <p:spPr>
          <a:xfrm>
            <a:off x="6339840" y="1731264"/>
            <a:ext cx="5425440" cy="2170176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t"/>
          <a:lstStyle/>
          <a:p>
            <a:r>
              <a:rPr lang="en-US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AI-powered Fitness Buddy agent on IBM watsonx Orchestrate that:</a:t>
            </a:r>
            <a:endParaRPr lang="en-US" dirty="0"/>
          </a:p>
          <a:p>
            <a:pPr marL="457189" indent="-457189">
              <a:buSzPct val="100000"/>
              <a:buChar char="•"/>
            </a:pPr>
            <a:r>
              <a:rPr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home workouts based on user goals</a:t>
            </a:r>
            <a:endParaRPr lang="en-US" dirty="0"/>
          </a:p>
          <a:p>
            <a:pPr marL="457189" indent="-457189">
              <a:buSzPct val="100000"/>
              <a:buChar char="•"/>
            </a:pPr>
            <a:r>
              <a:rPr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beginner-friendly nutrition guidance</a:t>
            </a:r>
            <a:endParaRPr lang="en-US" dirty="0"/>
          </a:p>
          <a:p>
            <a:pPr marL="457189" indent="-457189">
              <a:buSzPct val="100000"/>
              <a:buChar char="•"/>
            </a:pPr>
            <a:r>
              <a:rPr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daily motivation and habit encouragement</a:t>
            </a:r>
            <a:endParaRPr lang="en-US" dirty="0"/>
          </a:p>
          <a:p>
            <a:pPr marL="457189" indent="-457189">
              <a:buSzPct val="100000"/>
              <a:buChar char="•"/>
            </a:pPr>
            <a:r>
              <a:rPr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individual age, activity level &amp; diet preferences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43840" y="4169664"/>
            <a:ext cx="2743200" cy="121920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3840" y="424281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3B+</a:t>
            </a:r>
            <a:endParaRPr lang="en-US" sz="2933" dirty="0"/>
          </a:p>
        </p:txBody>
      </p:sp>
      <p:sp>
        <p:nvSpPr>
          <p:cNvPr id="16" name="Text 14"/>
          <p:cNvSpPr/>
          <p:nvPr/>
        </p:nvSpPr>
        <p:spPr>
          <a:xfrm>
            <a:off x="243840" y="4754880"/>
            <a:ext cx="2743200" cy="536448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algn="ctr"/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lack fitness guidance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30880" y="4169664"/>
            <a:ext cx="2743200" cy="121920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30880" y="424281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$100B+</a:t>
            </a:r>
            <a:endParaRPr lang="en-US" sz="2933" dirty="0"/>
          </a:p>
        </p:txBody>
      </p:sp>
      <p:sp>
        <p:nvSpPr>
          <p:cNvPr id="19" name="Text 17"/>
          <p:cNvSpPr/>
          <p:nvPr/>
        </p:nvSpPr>
        <p:spPr>
          <a:xfrm>
            <a:off x="3230880" y="4754880"/>
            <a:ext cx="2743200" cy="536448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algn="ctr"/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fitness market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4169664"/>
            <a:ext cx="2743200" cy="121920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0" y="424281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2933" dirty="0"/>
          </a:p>
        </p:txBody>
      </p:sp>
      <p:sp>
        <p:nvSpPr>
          <p:cNvPr id="22" name="Text 20"/>
          <p:cNvSpPr/>
          <p:nvPr/>
        </p:nvSpPr>
        <p:spPr>
          <a:xfrm>
            <a:off x="6217920" y="4754880"/>
            <a:ext cx="2743200" cy="536448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algn="ctr"/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 plans in 3 weeks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204960" y="4169664"/>
            <a:ext cx="2743200" cy="121920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204960" y="424281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Agent</a:t>
            </a:r>
            <a:endParaRPr lang="en-US" sz="2933" dirty="0"/>
          </a:p>
        </p:txBody>
      </p:sp>
      <p:sp>
        <p:nvSpPr>
          <p:cNvPr id="25" name="Text 23"/>
          <p:cNvSpPr/>
          <p:nvPr/>
        </p:nvSpPr>
        <p:spPr>
          <a:xfrm>
            <a:off x="9204960" y="4754880"/>
            <a:ext cx="2743200" cy="536448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ctr"/>
          <a:lstStyle/>
          <a:p>
            <a:pPr algn="ctr"/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it all with AI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43840" y="5510784"/>
            <a:ext cx="11643360" cy="975360"/>
          </a:xfrm>
          <a:prstGeom prst="rect">
            <a:avLst/>
          </a:prstGeom>
          <a:solidFill>
            <a:srgbClr val="0A2010"/>
          </a:solidFill>
          <a:ln w="12700">
            <a:solidFill>
              <a:srgbClr val="00A0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6720" y="5583936"/>
            <a:ext cx="1133856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00D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Ethical Guardrails Applied: No medical diagnosis provided · Follows HAM (Helpful, Accurate, Mindful) principles · Safe fitness guidance only · Respects user privacy</a:t>
            </a:r>
            <a:endParaRPr lang="en-US" sz="1333" dirty="0"/>
          </a:p>
        </p:txBody>
      </p:sp>
      <p:sp>
        <p:nvSpPr>
          <p:cNvPr id="28" name="Shape 26"/>
          <p:cNvSpPr/>
          <p:nvPr/>
        </p:nvSpPr>
        <p:spPr>
          <a:xfrm>
            <a:off x="0" y="6760464"/>
            <a:ext cx="12192000" cy="9753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536"/>
            <a:ext cx="97536" cy="67604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182880"/>
            <a:ext cx="7315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Used</a:t>
            </a:r>
            <a:endParaRPr lang="en-US" sz="3467" dirty="0"/>
          </a:p>
        </p:txBody>
      </p:sp>
      <p:sp>
        <p:nvSpPr>
          <p:cNvPr id="7" name="Shape 5"/>
          <p:cNvSpPr/>
          <p:nvPr/>
        </p:nvSpPr>
        <p:spPr>
          <a:xfrm>
            <a:off x="243840" y="877824"/>
            <a:ext cx="11643360" cy="877824"/>
          </a:xfrm>
          <a:prstGeom prst="rect">
            <a:avLst/>
          </a:prstGeom>
          <a:solidFill>
            <a:srgbClr val="132238"/>
          </a:solidFill>
          <a:ln w="19050">
            <a:solidFill>
              <a:srgbClr val="00C6A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43840" y="877824"/>
            <a:ext cx="121920" cy="877824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877824"/>
            <a:ext cx="11216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Used:  IBM watsonx Orchestrate  —  Single Agent with Behavior Instructions + IBM Granite LLM</a:t>
            </a:r>
            <a:endParaRPr lang="en-US" sz="1733" dirty="0"/>
          </a:p>
        </p:txBody>
      </p:sp>
      <p:sp>
        <p:nvSpPr>
          <p:cNvPr id="10" name="Shape 8"/>
          <p:cNvSpPr/>
          <p:nvPr/>
        </p:nvSpPr>
        <p:spPr>
          <a:xfrm>
            <a:off x="243840" y="1926336"/>
            <a:ext cx="3779520" cy="188976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3840" y="1926336"/>
            <a:ext cx="3779520" cy="48768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376" y="2048256"/>
            <a:ext cx="3584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IBM watsonx Orchestrate</a:t>
            </a:r>
            <a:endParaRPr lang="en-US" sz="1467" dirty="0"/>
          </a:p>
        </p:txBody>
      </p:sp>
      <p:sp>
        <p:nvSpPr>
          <p:cNvPr id="13" name="Shape 11"/>
          <p:cNvSpPr/>
          <p:nvPr/>
        </p:nvSpPr>
        <p:spPr>
          <a:xfrm>
            <a:off x="341376" y="2487168"/>
            <a:ext cx="1584960" cy="268224"/>
          </a:xfrm>
          <a:prstGeom prst="roundRect">
            <a:avLst>
              <a:gd name="adj" fmla="val 18182"/>
            </a:avLst>
          </a:prstGeom>
          <a:solidFill>
            <a:srgbClr val="1F70C1"/>
          </a:solidFill>
          <a:ln w="12700">
            <a:solidFill>
              <a:srgbClr val="1F70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376" y="2487168"/>
            <a:ext cx="15849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Platform</a:t>
            </a:r>
            <a:endParaRPr lang="en-US" sz="1067" dirty="0"/>
          </a:p>
        </p:txBody>
      </p:sp>
      <p:sp>
        <p:nvSpPr>
          <p:cNvPr id="15" name="Text 13"/>
          <p:cNvSpPr/>
          <p:nvPr/>
        </p:nvSpPr>
        <p:spPr>
          <a:xfrm>
            <a:off x="341376" y="2804160"/>
            <a:ext cx="3584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AI agent deployment with behavior instructions, conversation management, and web chat embed.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06240" y="1926336"/>
            <a:ext cx="3779520" cy="188976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06240" y="1926336"/>
            <a:ext cx="3779520" cy="48768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03776" y="2048256"/>
            <a:ext cx="3584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GPT-OSS-120B-OpenAI LLM</a:t>
            </a:r>
            <a:endParaRPr lang="en-US" sz="1467" dirty="0"/>
          </a:p>
        </p:txBody>
      </p:sp>
      <p:sp>
        <p:nvSpPr>
          <p:cNvPr id="19" name="Shape 17"/>
          <p:cNvSpPr/>
          <p:nvPr/>
        </p:nvSpPr>
        <p:spPr>
          <a:xfrm>
            <a:off x="4303776" y="2487168"/>
            <a:ext cx="1584960" cy="268224"/>
          </a:xfrm>
          <a:prstGeom prst="roundRect">
            <a:avLst>
              <a:gd name="adj" fmla="val 18182"/>
            </a:avLst>
          </a:prstGeom>
          <a:solidFill>
            <a:srgbClr val="1F70C1"/>
          </a:solidFill>
          <a:ln w="12700">
            <a:solidFill>
              <a:srgbClr val="1F70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03776" y="2487168"/>
            <a:ext cx="15849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</a:t>
            </a:r>
            <a:endParaRPr lang="en-US" sz="1067" dirty="0"/>
          </a:p>
        </p:txBody>
      </p:sp>
      <p:sp>
        <p:nvSpPr>
          <p:cNvPr id="21" name="Text 19"/>
          <p:cNvSpPr/>
          <p:nvPr/>
        </p:nvSpPr>
        <p:spPr>
          <a:xfrm>
            <a:off x="4303776" y="2804160"/>
            <a:ext cx="3584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natural language understanding, personalized fitness plan generation, and motivational responses.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68640" y="1926336"/>
            <a:ext cx="3779520" cy="188976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68640" y="1926336"/>
            <a:ext cx="3779520" cy="48768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66176" y="2048256"/>
            <a:ext cx="3584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IBM Cloud Lite</a:t>
            </a:r>
            <a:endParaRPr lang="en-US" sz="1467" dirty="0"/>
          </a:p>
        </p:txBody>
      </p:sp>
      <p:sp>
        <p:nvSpPr>
          <p:cNvPr id="25" name="Shape 23"/>
          <p:cNvSpPr/>
          <p:nvPr/>
        </p:nvSpPr>
        <p:spPr>
          <a:xfrm>
            <a:off x="8266176" y="2487168"/>
            <a:ext cx="1584960" cy="268224"/>
          </a:xfrm>
          <a:prstGeom prst="roundRect">
            <a:avLst>
              <a:gd name="adj" fmla="val 18182"/>
            </a:avLst>
          </a:prstGeom>
          <a:solidFill>
            <a:srgbClr val="1F70C1"/>
          </a:solidFill>
          <a:ln w="12700">
            <a:solidFill>
              <a:srgbClr val="1F70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66176" y="2487168"/>
            <a:ext cx="15849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67" dirty="0"/>
          </a:p>
        </p:txBody>
      </p:sp>
      <p:sp>
        <p:nvSpPr>
          <p:cNvPr id="27" name="Text 25"/>
          <p:cNvSpPr/>
          <p:nvPr/>
        </p:nvSpPr>
        <p:spPr>
          <a:xfrm>
            <a:off x="8266176" y="2804160"/>
            <a:ext cx="3584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cloud hosting for the watsonx Orchestrate service with IAM security and API management.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43840" y="3974592"/>
            <a:ext cx="3779520" cy="188976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43840" y="3974592"/>
            <a:ext cx="3779520" cy="48768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1376" y="4096512"/>
            <a:ext cx="3584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HTML + JavaScript</a:t>
            </a:r>
            <a:endParaRPr lang="en-US" sz="1467" dirty="0"/>
          </a:p>
        </p:txBody>
      </p:sp>
      <p:sp>
        <p:nvSpPr>
          <p:cNvPr id="31" name="Shape 29"/>
          <p:cNvSpPr/>
          <p:nvPr/>
        </p:nvSpPr>
        <p:spPr>
          <a:xfrm>
            <a:off x="341376" y="4535424"/>
            <a:ext cx="1584960" cy="268224"/>
          </a:xfrm>
          <a:prstGeom prst="roundRect">
            <a:avLst>
              <a:gd name="adj" fmla="val 18182"/>
            </a:avLst>
          </a:prstGeom>
          <a:solidFill>
            <a:srgbClr val="1F70C1"/>
          </a:solidFill>
          <a:ln w="12700">
            <a:solidFill>
              <a:srgbClr val="1F70C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376" y="4535424"/>
            <a:ext cx="15849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Interface</a:t>
            </a:r>
            <a:endParaRPr lang="en-US" sz="1067" dirty="0"/>
          </a:p>
        </p:txBody>
      </p:sp>
      <p:sp>
        <p:nvSpPr>
          <p:cNvPr id="33" name="Text 31"/>
          <p:cNvSpPr/>
          <p:nvPr/>
        </p:nvSpPr>
        <p:spPr>
          <a:xfrm>
            <a:off x="341376" y="4852416"/>
            <a:ext cx="3584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web page embedding the watsonx web chat widget via the wxoLoader script and wxOConfiguration.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206240" y="3974592"/>
            <a:ext cx="3779520" cy="188976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206240" y="3974592"/>
            <a:ext cx="3779520" cy="48768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03776" y="4096512"/>
            <a:ext cx="3584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AI Ethics &amp; Guardrails</a:t>
            </a:r>
            <a:endParaRPr lang="en-US" sz="1467" dirty="0"/>
          </a:p>
        </p:txBody>
      </p:sp>
      <p:sp>
        <p:nvSpPr>
          <p:cNvPr id="37" name="Shape 35"/>
          <p:cNvSpPr/>
          <p:nvPr/>
        </p:nvSpPr>
        <p:spPr>
          <a:xfrm>
            <a:off x="4303776" y="4535424"/>
            <a:ext cx="1584960" cy="268224"/>
          </a:xfrm>
          <a:prstGeom prst="roundRect">
            <a:avLst>
              <a:gd name="adj" fmla="val 18182"/>
            </a:avLst>
          </a:prstGeom>
          <a:solidFill>
            <a:srgbClr val="1F70C1"/>
          </a:solidFill>
          <a:ln w="12700">
            <a:solidFill>
              <a:srgbClr val="1F70C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03776" y="4535424"/>
            <a:ext cx="15849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067" dirty="0"/>
          </a:p>
        </p:txBody>
      </p:sp>
      <p:sp>
        <p:nvSpPr>
          <p:cNvPr id="39" name="Text 37"/>
          <p:cNvSpPr/>
          <p:nvPr/>
        </p:nvSpPr>
        <p:spPr>
          <a:xfrm>
            <a:off x="4303776" y="4852416"/>
            <a:ext cx="3584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principles applied: Helpful, Accurate, Mindful. No medical diagnosis. Safe fitness guidance only.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168640" y="3974592"/>
            <a:ext cx="3779520" cy="188976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168640" y="3974592"/>
            <a:ext cx="3779520" cy="48768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66176" y="4096512"/>
            <a:ext cx="3584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 HTTP Server</a:t>
            </a:r>
            <a:endParaRPr lang="en-US" sz="1467" dirty="0"/>
          </a:p>
        </p:txBody>
      </p:sp>
      <p:sp>
        <p:nvSpPr>
          <p:cNvPr id="43" name="Shape 41"/>
          <p:cNvSpPr/>
          <p:nvPr/>
        </p:nvSpPr>
        <p:spPr>
          <a:xfrm>
            <a:off x="8266176" y="4535424"/>
            <a:ext cx="1584960" cy="268224"/>
          </a:xfrm>
          <a:prstGeom prst="roundRect">
            <a:avLst>
              <a:gd name="adj" fmla="val 18182"/>
            </a:avLst>
          </a:prstGeom>
          <a:solidFill>
            <a:srgbClr val="1F70C1"/>
          </a:solidFill>
          <a:ln w="12700">
            <a:solidFill>
              <a:srgbClr val="1F70C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66176" y="4535424"/>
            <a:ext cx="15849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 Server</a:t>
            </a:r>
            <a:endParaRPr lang="en-US" sz="1067" dirty="0"/>
          </a:p>
        </p:txBody>
      </p:sp>
      <p:sp>
        <p:nvSpPr>
          <p:cNvPr id="45" name="Text 43"/>
          <p:cNvSpPr/>
          <p:nvPr/>
        </p:nvSpPr>
        <p:spPr>
          <a:xfrm>
            <a:off x="8266176" y="4852416"/>
            <a:ext cx="3584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the HTML file over localhost to satisfy IBM's CORS and origin requirements for embed widget.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0" y="6760464"/>
            <a:ext cx="12192000" cy="9753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536"/>
            <a:ext cx="97536" cy="67604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182880"/>
            <a:ext cx="7315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3467" dirty="0"/>
          </a:p>
        </p:txBody>
      </p:sp>
      <p:sp>
        <p:nvSpPr>
          <p:cNvPr id="5" name="Text 3"/>
          <p:cNvSpPr/>
          <p:nvPr/>
        </p:nvSpPr>
        <p:spPr>
          <a:xfrm>
            <a:off x="304800" y="731520"/>
            <a:ext cx="975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i="1" dirty="0">
                <a:solidFill>
                  <a:srgbClr val="6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Fitness Buddy on IBM watsonx Orchestrate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243840" y="1158240"/>
            <a:ext cx="11643360" cy="109728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43840" y="1158240"/>
            <a:ext cx="97536" cy="1097280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296" y="1194816"/>
            <a:ext cx="11277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Buddy is a single-agent, conversational AI health coach built on IBM watsonx Orchestrate. It uses a carefully crafted behavior instruction set (system prompt) to guide an IBM Granite LLM to act as a personalized fitness advisor. Users interact via a custom HTML web page that embeds the watsonx web chat widget.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43840" y="2377440"/>
            <a:ext cx="2194560" cy="347472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3840" y="2377440"/>
            <a:ext cx="2194560" cy="48768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8784" y="2499360"/>
            <a:ext cx="804672" cy="804672"/>
          </a:xfrm>
          <a:prstGeom prst="ellipse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8784" y="249936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133" dirty="0"/>
          </a:p>
        </p:txBody>
      </p:sp>
      <p:sp>
        <p:nvSpPr>
          <p:cNvPr id="13" name="Text 11"/>
          <p:cNvSpPr/>
          <p:nvPr/>
        </p:nvSpPr>
        <p:spPr>
          <a:xfrm>
            <a:off x="304800" y="3364992"/>
            <a:ext cx="207264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Fitness Guidance</a:t>
            </a:r>
            <a:endParaRPr lang="en-US" sz="1333" dirty="0"/>
          </a:p>
        </p:txBody>
      </p:sp>
      <p:sp>
        <p:nvSpPr>
          <p:cNvPr id="14" name="Text 12"/>
          <p:cNvSpPr/>
          <p:nvPr/>
        </p:nvSpPr>
        <p:spPr>
          <a:xfrm>
            <a:off x="341376" y="4023360"/>
            <a:ext cx="1999488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evidence-based home workout recommendations. Collects age, fitness goal, and activity level before generating any plan.</a:t>
            </a:r>
            <a:endParaRPr lang="en-US" sz="1133" dirty="0"/>
          </a:p>
        </p:txBody>
      </p:sp>
      <p:sp>
        <p:nvSpPr>
          <p:cNvPr id="15" name="Shape 13"/>
          <p:cNvSpPr/>
          <p:nvPr/>
        </p:nvSpPr>
        <p:spPr>
          <a:xfrm>
            <a:off x="2596896" y="2377440"/>
            <a:ext cx="2194560" cy="347472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96896" y="2377440"/>
            <a:ext cx="2194560" cy="48768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2499360"/>
            <a:ext cx="804672" cy="804672"/>
          </a:xfrm>
          <a:prstGeom prst="ellipse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249936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133" dirty="0"/>
          </a:p>
        </p:txBody>
      </p:sp>
      <p:sp>
        <p:nvSpPr>
          <p:cNvPr id="19" name="Text 17"/>
          <p:cNvSpPr/>
          <p:nvPr/>
        </p:nvSpPr>
        <p:spPr>
          <a:xfrm>
            <a:off x="2657856" y="3364992"/>
            <a:ext cx="207264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Workout Plans</a:t>
            </a:r>
            <a:endParaRPr lang="en-US" sz="1333" dirty="0"/>
          </a:p>
        </p:txBody>
      </p:sp>
      <p:sp>
        <p:nvSpPr>
          <p:cNvPr id="20" name="Text 18"/>
          <p:cNvSpPr/>
          <p:nvPr/>
        </p:nvSpPr>
        <p:spPr>
          <a:xfrm>
            <a:off x="2694432" y="4023360"/>
            <a:ext cx="1999488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structured routines based on user's fitness level, available equipment, and time constraints — no gym needed.</a:t>
            </a:r>
            <a:endParaRPr lang="en-US" sz="1133" dirty="0"/>
          </a:p>
        </p:txBody>
      </p:sp>
      <p:sp>
        <p:nvSpPr>
          <p:cNvPr id="21" name="Shape 19"/>
          <p:cNvSpPr/>
          <p:nvPr/>
        </p:nvSpPr>
        <p:spPr>
          <a:xfrm>
            <a:off x="4949952" y="2377440"/>
            <a:ext cx="2194560" cy="347472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49952" y="2377440"/>
            <a:ext cx="2194560" cy="48768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44896" y="2499360"/>
            <a:ext cx="804672" cy="804672"/>
          </a:xfrm>
          <a:prstGeom prst="ellipse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44896" y="249936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133" dirty="0"/>
          </a:p>
        </p:txBody>
      </p:sp>
      <p:sp>
        <p:nvSpPr>
          <p:cNvPr id="25" name="Text 23"/>
          <p:cNvSpPr/>
          <p:nvPr/>
        </p:nvSpPr>
        <p:spPr>
          <a:xfrm>
            <a:off x="5010912" y="3364992"/>
            <a:ext cx="207264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Nutrition</a:t>
            </a:r>
            <a:endParaRPr lang="en-US" sz="1333" dirty="0"/>
          </a:p>
        </p:txBody>
      </p:sp>
      <p:sp>
        <p:nvSpPr>
          <p:cNvPr id="26" name="Text 24"/>
          <p:cNvSpPr/>
          <p:nvPr/>
        </p:nvSpPr>
        <p:spPr>
          <a:xfrm>
            <a:off x="5047488" y="4023360"/>
            <a:ext cx="1999488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simple, balanced meal ideas based on veg/non-veg preference and any medical history like diabetes or blood pressure.</a:t>
            </a:r>
            <a:endParaRPr lang="en-US" sz="1133" dirty="0"/>
          </a:p>
        </p:txBody>
      </p:sp>
      <p:sp>
        <p:nvSpPr>
          <p:cNvPr id="27" name="Shape 25"/>
          <p:cNvSpPr/>
          <p:nvPr/>
        </p:nvSpPr>
        <p:spPr>
          <a:xfrm>
            <a:off x="7303008" y="2377440"/>
            <a:ext cx="2194560" cy="347472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03008" y="2377440"/>
            <a:ext cx="2194560" cy="48768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97952" y="2499360"/>
            <a:ext cx="804672" cy="804672"/>
          </a:xfrm>
          <a:prstGeom prst="ellipse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97952" y="249936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133" dirty="0"/>
          </a:p>
        </p:txBody>
      </p:sp>
      <p:sp>
        <p:nvSpPr>
          <p:cNvPr id="31" name="Text 29"/>
          <p:cNvSpPr/>
          <p:nvPr/>
        </p:nvSpPr>
        <p:spPr>
          <a:xfrm>
            <a:off x="7363968" y="3364992"/>
            <a:ext cx="207264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Building</a:t>
            </a:r>
            <a:endParaRPr lang="en-US" sz="1333" dirty="0"/>
          </a:p>
        </p:txBody>
      </p:sp>
      <p:sp>
        <p:nvSpPr>
          <p:cNvPr id="32" name="Text 30"/>
          <p:cNvSpPr/>
          <p:nvPr/>
        </p:nvSpPr>
        <p:spPr>
          <a:xfrm>
            <a:off x="7400544" y="4023360"/>
            <a:ext cx="1999488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Encourages consistency, tracks user goals across conversation turns, and provides positive reinforcement messages.</a:t>
            </a:r>
            <a:endParaRPr lang="en-US" sz="1133" dirty="0"/>
          </a:p>
        </p:txBody>
      </p:sp>
      <p:sp>
        <p:nvSpPr>
          <p:cNvPr id="33" name="Shape 31"/>
          <p:cNvSpPr/>
          <p:nvPr/>
        </p:nvSpPr>
        <p:spPr>
          <a:xfrm>
            <a:off x="9656064" y="2377440"/>
            <a:ext cx="2194560" cy="347472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656064" y="2377440"/>
            <a:ext cx="2194560" cy="48768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351008" y="2499360"/>
            <a:ext cx="804672" cy="804672"/>
          </a:xfrm>
          <a:prstGeom prst="ellipse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51008" y="249936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133" dirty="0"/>
          </a:p>
        </p:txBody>
      </p:sp>
      <p:sp>
        <p:nvSpPr>
          <p:cNvPr id="37" name="Text 35"/>
          <p:cNvSpPr/>
          <p:nvPr/>
        </p:nvSpPr>
        <p:spPr>
          <a:xfrm>
            <a:off x="9717024" y="3364992"/>
            <a:ext cx="207264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Motivation</a:t>
            </a:r>
            <a:endParaRPr lang="en-US" sz="1333" dirty="0"/>
          </a:p>
        </p:txBody>
      </p:sp>
      <p:sp>
        <p:nvSpPr>
          <p:cNvPr id="38" name="Text 36"/>
          <p:cNvSpPr/>
          <p:nvPr/>
        </p:nvSpPr>
        <p:spPr>
          <a:xfrm>
            <a:off x="9753600" y="4023360"/>
            <a:ext cx="1999488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energetic, personalized motivational messages. Uses a helpful, accurate, and mindful (HAM) communication tone.</a:t>
            </a:r>
            <a:endParaRPr lang="en-US" sz="1133" dirty="0"/>
          </a:p>
        </p:txBody>
      </p:sp>
      <p:sp>
        <p:nvSpPr>
          <p:cNvPr id="39" name="Shape 37"/>
          <p:cNvSpPr/>
          <p:nvPr/>
        </p:nvSpPr>
        <p:spPr>
          <a:xfrm>
            <a:off x="243840" y="5998464"/>
            <a:ext cx="11643360" cy="609600"/>
          </a:xfrm>
          <a:prstGeom prst="rect">
            <a:avLst/>
          </a:prstGeom>
          <a:solidFill>
            <a:srgbClr val="0A2010"/>
          </a:solidFill>
          <a:ln w="12700">
            <a:solidFill>
              <a:srgbClr val="00A0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5998464"/>
            <a:ext cx="11399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00D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Never provides medical diagnosis  ·  Always asks for Age, Goal &amp; Activity Level first  ·  Follows ethical AI principles</a:t>
            </a:r>
            <a:endParaRPr lang="en-US" sz="1333" dirty="0"/>
          </a:p>
        </p:txBody>
      </p:sp>
      <p:sp>
        <p:nvSpPr>
          <p:cNvPr id="41" name="Shape 39"/>
          <p:cNvSpPr/>
          <p:nvPr/>
        </p:nvSpPr>
        <p:spPr>
          <a:xfrm>
            <a:off x="0" y="6760464"/>
            <a:ext cx="12192000" cy="9753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536"/>
            <a:ext cx="97536" cy="67604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182880"/>
            <a:ext cx="853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Screenshots: </a:t>
            </a:r>
            <a:endParaRPr lang="en-US" sz="3467" dirty="0"/>
          </a:p>
        </p:txBody>
      </p:sp>
      <p:sp>
        <p:nvSpPr>
          <p:cNvPr id="37" name="Shape 35"/>
          <p:cNvSpPr/>
          <p:nvPr/>
        </p:nvSpPr>
        <p:spPr>
          <a:xfrm>
            <a:off x="0" y="6760464"/>
            <a:ext cx="12192000" cy="9753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5" name="Shape 11">
            <a:extLst>
              <a:ext uri="{FF2B5EF4-FFF2-40B4-BE49-F238E27FC236}">
                <a16:creationId xmlns:a16="http://schemas.microsoft.com/office/drawing/2014/main" id="{0A8E9D93-CC65-8699-E850-996419FD0E58}"/>
              </a:ext>
            </a:extLst>
          </p:cNvPr>
          <p:cNvSpPr/>
          <p:nvPr/>
        </p:nvSpPr>
        <p:spPr>
          <a:xfrm>
            <a:off x="237299" y="1026023"/>
            <a:ext cx="5640350" cy="262128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11">
            <a:extLst>
              <a:ext uri="{FF2B5EF4-FFF2-40B4-BE49-F238E27FC236}">
                <a16:creationId xmlns:a16="http://schemas.microsoft.com/office/drawing/2014/main" id="{5294A7B7-027F-763D-3F51-71D8F010E1E3}"/>
              </a:ext>
            </a:extLst>
          </p:cNvPr>
          <p:cNvSpPr/>
          <p:nvPr/>
        </p:nvSpPr>
        <p:spPr>
          <a:xfrm>
            <a:off x="229095" y="4022208"/>
            <a:ext cx="5687568" cy="262128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11">
            <a:extLst>
              <a:ext uri="{FF2B5EF4-FFF2-40B4-BE49-F238E27FC236}">
                <a16:creationId xmlns:a16="http://schemas.microsoft.com/office/drawing/2014/main" id="{D4B67D0D-737D-3B6A-27C7-D28255FD7F67}"/>
              </a:ext>
            </a:extLst>
          </p:cNvPr>
          <p:cNvSpPr/>
          <p:nvPr/>
        </p:nvSpPr>
        <p:spPr>
          <a:xfrm>
            <a:off x="6122937" y="4022208"/>
            <a:ext cx="5687568" cy="262128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11">
            <a:extLst>
              <a:ext uri="{FF2B5EF4-FFF2-40B4-BE49-F238E27FC236}">
                <a16:creationId xmlns:a16="http://schemas.microsoft.com/office/drawing/2014/main" id="{6B427CBA-6A46-377C-36D3-5995E1803F7D}"/>
              </a:ext>
            </a:extLst>
          </p:cNvPr>
          <p:cNvSpPr/>
          <p:nvPr/>
        </p:nvSpPr>
        <p:spPr>
          <a:xfrm>
            <a:off x="6096000" y="984289"/>
            <a:ext cx="5687568" cy="262128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B527A7-C0AC-683B-B044-1E47C579E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495" y="1027850"/>
            <a:ext cx="5342295" cy="26548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317A2C-535B-1DAD-2D7D-8B627F9C69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823" y="4057631"/>
            <a:ext cx="5534826" cy="27028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115D731-5440-CA0C-4108-196DCC2BE0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2937" y="1026023"/>
            <a:ext cx="5599317" cy="25795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EFB6483-39C1-DB02-FBE9-1E85F37AC6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1950" y="4022208"/>
            <a:ext cx="5648555" cy="25795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4C993-889F-BF5C-4BF6-1BC033CA0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E53268B-E8DC-94E6-36B4-DDF158FB69CC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3CF0E0C-67A2-AFDB-42B7-49A8D9E926E4}"/>
              </a:ext>
            </a:extLst>
          </p:cNvPr>
          <p:cNvSpPr/>
          <p:nvPr/>
        </p:nvSpPr>
        <p:spPr>
          <a:xfrm>
            <a:off x="0" y="97536"/>
            <a:ext cx="97536" cy="67604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B515D7B-9577-BCF3-46D0-661BA2653FD9}"/>
              </a:ext>
            </a:extLst>
          </p:cNvPr>
          <p:cNvSpPr/>
          <p:nvPr/>
        </p:nvSpPr>
        <p:spPr>
          <a:xfrm>
            <a:off x="304800" y="182880"/>
            <a:ext cx="853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Screenshots: </a:t>
            </a:r>
            <a:endParaRPr lang="en-US" sz="3467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FFE292D-E41D-4BED-D68B-9CE3D4B6FCFF}"/>
              </a:ext>
            </a:extLst>
          </p:cNvPr>
          <p:cNvSpPr/>
          <p:nvPr/>
        </p:nvSpPr>
        <p:spPr>
          <a:xfrm>
            <a:off x="6260864" y="853438"/>
            <a:ext cx="5669280" cy="2767585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98478C9A-0E81-8185-5273-5AF031F189BA}"/>
              </a:ext>
            </a:extLst>
          </p:cNvPr>
          <p:cNvSpPr/>
          <p:nvPr/>
        </p:nvSpPr>
        <p:spPr>
          <a:xfrm>
            <a:off x="0" y="6760464"/>
            <a:ext cx="12192000" cy="9753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8" name="Shape 11">
            <a:extLst>
              <a:ext uri="{FF2B5EF4-FFF2-40B4-BE49-F238E27FC236}">
                <a16:creationId xmlns:a16="http://schemas.microsoft.com/office/drawing/2014/main" id="{06DE5538-D361-1C75-ABB7-C764C3FD8F0D}"/>
              </a:ext>
            </a:extLst>
          </p:cNvPr>
          <p:cNvSpPr/>
          <p:nvPr/>
        </p:nvSpPr>
        <p:spPr>
          <a:xfrm>
            <a:off x="304800" y="853440"/>
            <a:ext cx="5687568" cy="2767584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9" name="Shape 11">
            <a:extLst>
              <a:ext uri="{FF2B5EF4-FFF2-40B4-BE49-F238E27FC236}">
                <a16:creationId xmlns:a16="http://schemas.microsoft.com/office/drawing/2014/main" id="{AA45AF96-2AD4-F429-D4FC-F116119A61B9}"/>
              </a:ext>
            </a:extLst>
          </p:cNvPr>
          <p:cNvSpPr/>
          <p:nvPr/>
        </p:nvSpPr>
        <p:spPr>
          <a:xfrm>
            <a:off x="304800" y="3852672"/>
            <a:ext cx="5687568" cy="262128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0" name="Shape 11">
            <a:extLst>
              <a:ext uri="{FF2B5EF4-FFF2-40B4-BE49-F238E27FC236}">
                <a16:creationId xmlns:a16="http://schemas.microsoft.com/office/drawing/2014/main" id="{BC0067AF-28A9-A367-5C73-9A20ACCC69D2}"/>
              </a:ext>
            </a:extLst>
          </p:cNvPr>
          <p:cNvSpPr/>
          <p:nvPr/>
        </p:nvSpPr>
        <p:spPr>
          <a:xfrm>
            <a:off x="6260864" y="3852672"/>
            <a:ext cx="5626336" cy="262128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4E27C565-F2BB-D308-6A70-D6705B84F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907" y="827868"/>
            <a:ext cx="5669280" cy="2936412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B2CA9427-4D4F-9238-D6CC-A9D6BBAC4B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647" y="3866750"/>
            <a:ext cx="5565105" cy="260720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670CCDE-5AAC-110F-2ACC-B7B99F20BA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683" y="853439"/>
            <a:ext cx="5587229" cy="276410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F58345E-F8D8-29E7-BEEE-FB0B103B63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3893" y="3905657"/>
            <a:ext cx="5441459" cy="2529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168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536"/>
            <a:ext cx="97536" cy="67604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182880"/>
            <a:ext cx="853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Blueprint</a:t>
            </a:r>
            <a:endParaRPr lang="en-US" sz="3467" dirty="0"/>
          </a:p>
        </p:txBody>
      </p:sp>
      <p:sp>
        <p:nvSpPr>
          <p:cNvPr id="5" name="Text 3"/>
          <p:cNvSpPr/>
          <p:nvPr/>
        </p:nvSpPr>
        <p:spPr>
          <a:xfrm>
            <a:off x="304800" y="731520"/>
            <a:ext cx="853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i="1" dirty="0">
                <a:solidFill>
                  <a:srgbClr val="6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Single-Agent Architecture on IBM Cloud Lite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243840" y="1158240"/>
            <a:ext cx="11643360" cy="853440"/>
          </a:xfrm>
          <a:prstGeom prst="rect">
            <a:avLst/>
          </a:prstGeom>
          <a:solidFill>
            <a:srgbClr val="081828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58240"/>
            <a:ext cx="17068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USER INTERFACE</a:t>
            </a:r>
            <a:endParaRPr lang="en-US" sz="933" dirty="0"/>
          </a:p>
        </p:txBody>
      </p:sp>
      <p:sp>
        <p:nvSpPr>
          <p:cNvPr id="8" name="Shape 6"/>
          <p:cNvSpPr/>
          <p:nvPr/>
        </p:nvSpPr>
        <p:spPr>
          <a:xfrm>
            <a:off x="2316480" y="1255776"/>
            <a:ext cx="2682240" cy="658368"/>
          </a:xfrm>
          <a:prstGeom prst="rect">
            <a:avLst/>
          </a:prstGeom>
          <a:solidFill>
            <a:srgbClr val="0D1B2E"/>
          </a:solidFill>
          <a:ln w="6350">
            <a:solidFill>
              <a:srgbClr val="00C6A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16480" y="1255776"/>
            <a:ext cx="268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(HTML Page)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98720" y="1584960"/>
            <a:ext cx="487680" cy="0"/>
          </a:xfrm>
          <a:prstGeom prst="line">
            <a:avLst/>
          </a:prstGeom>
          <a:noFill/>
          <a:ln w="12700">
            <a:solidFill>
              <a:srgbClr val="00C6A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0" y="1255776"/>
            <a:ext cx="2682240" cy="658368"/>
          </a:xfrm>
          <a:prstGeom prst="rect">
            <a:avLst/>
          </a:prstGeom>
          <a:solidFill>
            <a:srgbClr val="0D1B2E"/>
          </a:solidFill>
          <a:ln w="6350">
            <a:solidFill>
              <a:srgbClr val="00C6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1255776"/>
            <a:ext cx="268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wxoLoader.js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(IBM Script)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68640" y="1584960"/>
            <a:ext cx="487680" cy="0"/>
          </a:xfrm>
          <a:prstGeom prst="line">
            <a:avLst/>
          </a:prstGeom>
          <a:noFill/>
          <a:ln w="12700">
            <a:solidFill>
              <a:srgbClr val="00C6A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56320" y="1255776"/>
            <a:ext cx="2682240" cy="658368"/>
          </a:xfrm>
          <a:prstGeom prst="rect">
            <a:avLst/>
          </a:prstGeom>
          <a:solidFill>
            <a:srgbClr val="0D1B2E"/>
          </a:solidFill>
          <a:ln w="6350">
            <a:solidFill>
              <a:srgbClr val="00C6A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56320" y="1255776"/>
            <a:ext cx="268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Widget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(Embedded)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011680"/>
            <a:ext cx="0" cy="365760"/>
          </a:xfrm>
          <a:prstGeom prst="line">
            <a:avLst/>
          </a:prstGeom>
          <a:noFill/>
          <a:ln w="25400">
            <a:solidFill>
              <a:srgbClr val="00C6A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2316480"/>
            <a:ext cx="19507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API Calls</a:t>
            </a:r>
            <a:endParaRPr lang="en-US" sz="1067" dirty="0"/>
          </a:p>
        </p:txBody>
      </p:sp>
      <p:sp>
        <p:nvSpPr>
          <p:cNvPr id="18" name="Shape 16"/>
          <p:cNvSpPr/>
          <p:nvPr/>
        </p:nvSpPr>
        <p:spPr>
          <a:xfrm>
            <a:off x="243840" y="2535936"/>
            <a:ext cx="11643360" cy="1158240"/>
          </a:xfrm>
          <a:prstGeom prst="rect">
            <a:avLst/>
          </a:prstGeom>
          <a:solidFill>
            <a:srgbClr val="081828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535936"/>
            <a:ext cx="170688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IBM watsonx ORCHESTRATE</a:t>
            </a:r>
            <a:endParaRPr lang="en-US" sz="933" dirty="0"/>
          </a:p>
        </p:txBody>
      </p:sp>
      <p:sp>
        <p:nvSpPr>
          <p:cNvPr id="20" name="Shape 18"/>
          <p:cNvSpPr/>
          <p:nvPr/>
        </p:nvSpPr>
        <p:spPr>
          <a:xfrm>
            <a:off x="2255520" y="2657856"/>
            <a:ext cx="1682496" cy="914400"/>
          </a:xfrm>
          <a:prstGeom prst="rect">
            <a:avLst/>
          </a:prstGeom>
          <a:solidFill>
            <a:srgbClr val="1F70C1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55520" y="2657856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Buddy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45280" y="2657856"/>
            <a:ext cx="1682496" cy="914400"/>
          </a:xfrm>
          <a:prstGeom prst="rect">
            <a:avLst/>
          </a:prstGeom>
          <a:solidFill>
            <a:srgbClr val="1F70C1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45280" y="2657856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35040" y="2657856"/>
            <a:ext cx="1682496" cy="914400"/>
          </a:xfrm>
          <a:prstGeom prst="rect">
            <a:avLst/>
          </a:prstGeom>
          <a:solidFill>
            <a:srgbClr val="1F70C1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2657856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924800" y="2657856"/>
            <a:ext cx="1682496" cy="914400"/>
          </a:xfrm>
          <a:prstGeom prst="rect">
            <a:avLst/>
          </a:prstGeom>
          <a:solidFill>
            <a:srgbClr val="1F70C1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24800" y="2657856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814560" y="2657856"/>
            <a:ext cx="1682496" cy="914400"/>
          </a:xfrm>
          <a:prstGeom prst="rect">
            <a:avLst/>
          </a:prstGeom>
          <a:solidFill>
            <a:srgbClr val="1F70C1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14560" y="2657856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35040" y="3694176"/>
            <a:ext cx="0" cy="341376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42560" y="3962400"/>
            <a:ext cx="15849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Calls</a:t>
            </a:r>
            <a:endParaRPr lang="en-US" sz="1067" dirty="0"/>
          </a:p>
        </p:txBody>
      </p:sp>
      <p:sp>
        <p:nvSpPr>
          <p:cNvPr id="32" name="Shape 30"/>
          <p:cNvSpPr/>
          <p:nvPr/>
        </p:nvSpPr>
        <p:spPr>
          <a:xfrm>
            <a:off x="243840" y="4181856"/>
            <a:ext cx="11643360" cy="914400"/>
          </a:xfrm>
          <a:prstGeom prst="rect">
            <a:avLst/>
          </a:prstGeom>
          <a:solidFill>
            <a:srgbClr val="08182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181856"/>
            <a:ext cx="170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IBM GRANITE LLM</a:t>
            </a:r>
            <a:endParaRPr lang="en-US" sz="933" dirty="0"/>
          </a:p>
        </p:txBody>
      </p:sp>
      <p:sp>
        <p:nvSpPr>
          <p:cNvPr id="34" name="Shape 32"/>
          <p:cNvSpPr/>
          <p:nvPr/>
        </p:nvSpPr>
        <p:spPr>
          <a:xfrm>
            <a:off x="2255520" y="4291584"/>
            <a:ext cx="2194560" cy="694944"/>
          </a:xfrm>
          <a:prstGeom prst="rect">
            <a:avLst/>
          </a:prstGeom>
          <a:solidFill>
            <a:srgbClr val="2D1B5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55520" y="4291584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Granite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693920" y="4291584"/>
            <a:ext cx="2194560" cy="694944"/>
          </a:xfrm>
          <a:prstGeom prst="rect">
            <a:avLst/>
          </a:prstGeom>
          <a:solidFill>
            <a:srgbClr val="2D1B5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93920" y="4291584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Understanding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Reasoning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132320" y="4291584"/>
            <a:ext cx="2194560" cy="694944"/>
          </a:xfrm>
          <a:prstGeom prst="rect">
            <a:avLst/>
          </a:prstGeom>
          <a:solidFill>
            <a:srgbClr val="2D1B5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0" y="4291584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Generation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Personalization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570720" y="4291584"/>
            <a:ext cx="2194560" cy="694944"/>
          </a:xfrm>
          <a:prstGeom prst="rect">
            <a:avLst/>
          </a:prstGeom>
          <a:solidFill>
            <a:srgbClr val="2D1B5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570720" y="4291584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Tone Control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43840" y="5242560"/>
            <a:ext cx="11643360" cy="877824"/>
          </a:xfrm>
          <a:prstGeom prst="rect">
            <a:avLst/>
          </a:prstGeom>
          <a:solidFill>
            <a:srgbClr val="08182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5242560"/>
            <a:ext cx="1706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IBM CLOUD LITE</a:t>
            </a:r>
            <a:endParaRPr lang="en-US" sz="933" dirty="0"/>
          </a:p>
        </p:txBody>
      </p:sp>
      <p:sp>
        <p:nvSpPr>
          <p:cNvPr id="44" name="Shape 42"/>
          <p:cNvSpPr/>
          <p:nvPr/>
        </p:nvSpPr>
        <p:spPr>
          <a:xfrm>
            <a:off x="2255520" y="5340096"/>
            <a:ext cx="2194560" cy="682752"/>
          </a:xfrm>
          <a:prstGeom prst="rect">
            <a:avLst/>
          </a:prstGeom>
          <a:solidFill>
            <a:srgbClr val="2818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55520" y="5340096"/>
            <a:ext cx="21945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&amp; API Keys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693920" y="5340096"/>
            <a:ext cx="2194560" cy="682752"/>
          </a:xfrm>
          <a:prstGeom prst="rect">
            <a:avLst/>
          </a:prstGeom>
          <a:solidFill>
            <a:srgbClr val="2818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93920" y="5340096"/>
            <a:ext cx="21945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au-syd Region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132320" y="5340096"/>
            <a:ext cx="2194560" cy="682752"/>
          </a:xfrm>
          <a:prstGeom prst="rect">
            <a:avLst/>
          </a:prstGeom>
          <a:solidFill>
            <a:srgbClr val="2818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32320" y="5340096"/>
            <a:ext cx="21945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Object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(Free)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570720" y="5340096"/>
            <a:ext cx="2194560" cy="682752"/>
          </a:xfrm>
          <a:prstGeom prst="rect">
            <a:avLst/>
          </a:prstGeom>
          <a:solidFill>
            <a:srgbClr val="2818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570720" y="5340096"/>
            <a:ext cx="21945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Security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0" y="6760464"/>
            <a:ext cx="12192000" cy="9753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536"/>
            <a:ext cx="97536" cy="67604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182880"/>
            <a:ext cx="853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Agentic AI</a:t>
            </a:r>
            <a:endParaRPr lang="en-US" sz="3467" dirty="0"/>
          </a:p>
        </p:txBody>
      </p:sp>
      <p:sp>
        <p:nvSpPr>
          <p:cNvPr id="5" name="Text 3"/>
          <p:cNvSpPr/>
          <p:nvPr/>
        </p:nvSpPr>
        <p:spPr>
          <a:xfrm>
            <a:off x="304800" y="731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i="1" dirty="0">
                <a:solidFill>
                  <a:srgbClr val="6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IBM watsonx Orchestrate enables intelligent, goal-driven fitness coaching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4572000" y="2499360"/>
            <a:ext cx="3048000" cy="3048000"/>
          </a:xfrm>
          <a:prstGeom prst="ellipse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0" y="2499360"/>
            <a:ext cx="3048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endParaRPr lang="en-US" sz="2133" dirty="0"/>
          </a:p>
          <a:p>
            <a:pPr algn="ctr"/>
            <a:r>
              <a:rPr lang="en-US" sz="2133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133" dirty="0"/>
          </a:p>
          <a:p>
            <a:pPr algn="ctr"/>
            <a:r>
              <a:rPr lang="en-US" sz="2133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2133" dirty="0"/>
          </a:p>
        </p:txBody>
      </p:sp>
      <p:sp>
        <p:nvSpPr>
          <p:cNvPr id="8" name="Shape 6"/>
          <p:cNvSpPr/>
          <p:nvPr/>
        </p:nvSpPr>
        <p:spPr>
          <a:xfrm>
            <a:off x="182880" y="1341120"/>
            <a:ext cx="4145280" cy="201168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341120"/>
            <a:ext cx="4145280" cy="48768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0416" y="1463040"/>
            <a:ext cx="3950208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Autonomous Decision-Making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280416" y="1975104"/>
            <a:ext cx="39502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independently determines what info to collect, which plan to generate, and when to apply guardrails — without manual routing.</a:t>
            </a:r>
            <a:endParaRPr lang="en-US" sz="1267" dirty="0"/>
          </a:p>
        </p:txBody>
      </p:sp>
      <p:sp>
        <p:nvSpPr>
          <p:cNvPr id="12" name="Shape 10"/>
          <p:cNvSpPr/>
          <p:nvPr/>
        </p:nvSpPr>
        <p:spPr>
          <a:xfrm>
            <a:off x="182880" y="3779520"/>
            <a:ext cx="4145280" cy="201168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3779520"/>
            <a:ext cx="4145280" cy="48768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0416" y="3901440"/>
            <a:ext cx="3950208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Context Awareness</a:t>
            </a:r>
            <a:endParaRPr lang="en-US" sz="1467" dirty="0"/>
          </a:p>
        </p:txBody>
      </p:sp>
      <p:sp>
        <p:nvSpPr>
          <p:cNvPr id="15" name="Text 13"/>
          <p:cNvSpPr/>
          <p:nvPr/>
        </p:nvSpPr>
        <p:spPr>
          <a:xfrm>
            <a:off x="280416" y="4413504"/>
            <a:ext cx="39502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Retains user profile (age, diet, medical history) throughout the conversation to deliver consistent, personalized responses.</a:t>
            </a:r>
            <a:endParaRPr lang="en-US" sz="1267" dirty="0"/>
          </a:p>
        </p:txBody>
      </p:sp>
      <p:sp>
        <p:nvSpPr>
          <p:cNvPr id="16" name="Shape 14"/>
          <p:cNvSpPr/>
          <p:nvPr/>
        </p:nvSpPr>
        <p:spPr>
          <a:xfrm>
            <a:off x="8168640" y="1341120"/>
            <a:ext cx="4023360" cy="201168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 flipV="1">
            <a:off x="8168640" y="1292352"/>
            <a:ext cx="4023360" cy="48768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6176" y="1463040"/>
            <a:ext cx="3950208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Goal-Driven Behavior</a:t>
            </a:r>
            <a:endParaRPr lang="en-US" sz="1467" dirty="0"/>
          </a:p>
        </p:txBody>
      </p:sp>
      <p:sp>
        <p:nvSpPr>
          <p:cNvPr id="19" name="Text 17"/>
          <p:cNvSpPr/>
          <p:nvPr/>
        </p:nvSpPr>
        <p:spPr>
          <a:xfrm>
            <a:off x="8266176" y="1975104"/>
            <a:ext cx="39502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guides users toward fitness goals by collecting required data before generating any plan, ensuring relevance.</a:t>
            </a:r>
            <a:endParaRPr lang="en-US" sz="1267" dirty="0"/>
          </a:p>
        </p:txBody>
      </p:sp>
      <p:sp>
        <p:nvSpPr>
          <p:cNvPr id="20" name="Shape 18"/>
          <p:cNvSpPr/>
          <p:nvPr/>
        </p:nvSpPr>
        <p:spPr>
          <a:xfrm>
            <a:off x="8168640" y="3779520"/>
            <a:ext cx="4145280" cy="201168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68640" y="3779520"/>
            <a:ext cx="4145280" cy="48768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66176" y="3901440"/>
            <a:ext cx="3950208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Real-Time Adaptation</a:t>
            </a:r>
            <a:endParaRPr lang="en-US" sz="1467" dirty="0"/>
          </a:p>
        </p:txBody>
      </p:sp>
      <p:sp>
        <p:nvSpPr>
          <p:cNvPr id="23" name="Text 21"/>
          <p:cNvSpPr/>
          <p:nvPr/>
        </p:nvSpPr>
        <p:spPr>
          <a:xfrm>
            <a:off x="8266176" y="4413504"/>
            <a:ext cx="39502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adapts tone, recommendations, and motivation based on user feedback and changing inputs during the session.</a:t>
            </a:r>
            <a:endParaRPr lang="en-US" sz="1267" dirty="0"/>
          </a:p>
        </p:txBody>
      </p:sp>
      <p:sp>
        <p:nvSpPr>
          <p:cNvPr id="24" name="Shape 22"/>
          <p:cNvSpPr/>
          <p:nvPr/>
        </p:nvSpPr>
        <p:spPr>
          <a:xfrm>
            <a:off x="243840" y="6096000"/>
            <a:ext cx="11643360" cy="512064"/>
          </a:xfrm>
          <a:prstGeom prst="rect">
            <a:avLst/>
          </a:prstGeom>
          <a:solidFill>
            <a:srgbClr val="0D1B2E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6096000"/>
            <a:ext cx="1139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makes Fitness Buddy proactive, personalized, and goal-driven — acting as a smart digital fitness coach, not just a static chatbot.</a:t>
            </a:r>
            <a:endParaRPr lang="en-US" sz="1333" dirty="0"/>
          </a:p>
        </p:txBody>
      </p:sp>
      <p:sp>
        <p:nvSpPr>
          <p:cNvPr id="26" name="Shape 24"/>
          <p:cNvSpPr/>
          <p:nvPr/>
        </p:nvSpPr>
        <p:spPr>
          <a:xfrm>
            <a:off x="0" y="6760464"/>
            <a:ext cx="12192000" cy="9753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42D98-DA83-4FBA-B4A4-D4CFA2A5F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DC07F6B-FF79-040A-57FF-8113AA386106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19F5935-EAB0-6B48-E16C-C130A80FB56A}"/>
              </a:ext>
            </a:extLst>
          </p:cNvPr>
          <p:cNvSpPr/>
          <p:nvPr/>
        </p:nvSpPr>
        <p:spPr>
          <a:xfrm>
            <a:off x="0" y="97536"/>
            <a:ext cx="97536" cy="67604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48ECB9B-9683-1C46-6B0A-C0390E17C77E}"/>
              </a:ext>
            </a:extLst>
          </p:cNvPr>
          <p:cNvSpPr/>
          <p:nvPr/>
        </p:nvSpPr>
        <p:spPr>
          <a:xfrm>
            <a:off x="304800" y="182880"/>
            <a:ext cx="853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Details</a:t>
            </a:r>
            <a:endParaRPr lang="en-US" sz="3467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938A9C5-19E4-DCD2-5BAA-93013A442773}"/>
              </a:ext>
            </a:extLst>
          </p:cNvPr>
          <p:cNvSpPr/>
          <p:nvPr/>
        </p:nvSpPr>
        <p:spPr>
          <a:xfrm>
            <a:off x="243840" y="999744"/>
            <a:ext cx="5669280" cy="262128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596D8AA-9535-05B6-E12D-03C07332448A}"/>
              </a:ext>
            </a:extLst>
          </p:cNvPr>
          <p:cNvSpPr/>
          <p:nvPr/>
        </p:nvSpPr>
        <p:spPr>
          <a:xfrm>
            <a:off x="243840" y="999744"/>
            <a:ext cx="5669280" cy="512064"/>
          </a:xfrm>
          <a:prstGeom prst="rect">
            <a:avLst/>
          </a:prstGeom>
          <a:solidFill>
            <a:srgbClr val="1F70C1"/>
          </a:solidFill>
          <a:ln w="12700">
            <a:solidFill>
              <a:srgbClr val="1F70C1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A8DF7E1-5541-9F49-1774-62C89218D028}"/>
              </a:ext>
            </a:extLst>
          </p:cNvPr>
          <p:cNvSpPr/>
          <p:nvPr/>
        </p:nvSpPr>
        <p:spPr>
          <a:xfrm>
            <a:off x="365760" y="999744"/>
            <a:ext cx="5425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IBM watsonx Orchestrate</a:t>
            </a:r>
            <a:endParaRPr lang="en-US" sz="1733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0A53ED9-E690-9A4B-C11A-0BFB5571D356}"/>
              </a:ext>
            </a:extLst>
          </p:cNvPr>
          <p:cNvSpPr/>
          <p:nvPr/>
        </p:nvSpPr>
        <p:spPr>
          <a:xfrm>
            <a:off x="390144" y="1584960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for building and deploying AI agents</a:t>
            </a:r>
            <a:endParaRPr lang="en-US" sz="1267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7896720-1381-91FB-FBC7-6FF5F6A1FF0A}"/>
              </a:ext>
            </a:extLst>
          </p:cNvPr>
          <p:cNvSpPr/>
          <p:nvPr/>
        </p:nvSpPr>
        <p:spPr>
          <a:xfrm>
            <a:off x="390144" y="1950720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 with behavior instructions</a:t>
            </a:r>
            <a:endParaRPr lang="en-US" sz="1267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6429DD3-92AF-F9B4-FDA1-691B474CA849}"/>
              </a:ext>
            </a:extLst>
          </p:cNvPr>
          <p:cNvSpPr/>
          <p:nvPr/>
        </p:nvSpPr>
        <p:spPr>
          <a:xfrm>
            <a:off x="390144" y="2316480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chat widget with wxoLoader.js embed</a:t>
            </a:r>
            <a:endParaRPr lang="en-US" sz="1267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EEDAAE1-EC32-402E-D53A-C6457095FBF5}"/>
              </a:ext>
            </a:extLst>
          </p:cNvPr>
          <p:cNvSpPr/>
          <p:nvPr/>
        </p:nvSpPr>
        <p:spPr>
          <a:xfrm>
            <a:off x="390144" y="2682240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 IBM Cloud (au-syd region)</a:t>
            </a:r>
            <a:endParaRPr lang="en-US" sz="1267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47A5C8E-E8E1-5578-E5A5-71CAAF412649}"/>
              </a:ext>
            </a:extLst>
          </p:cNvPr>
          <p:cNvSpPr/>
          <p:nvPr/>
        </p:nvSpPr>
        <p:spPr>
          <a:xfrm>
            <a:off x="390144" y="3048000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AgentID: 9a497dbc-e774-4f20-a072-4c826379a0c0</a:t>
            </a:r>
            <a:endParaRPr lang="en-US" sz="1267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CEA7401-60CB-0C17-0D09-9A5CAB6D0798}"/>
              </a:ext>
            </a:extLst>
          </p:cNvPr>
          <p:cNvSpPr/>
          <p:nvPr/>
        </p:nvSpPr>
        <p:spPr>
          <a:xfrm>
            <a:off x="6217920" y="999744"/>
            <a:ext cx="5669280" cy="262128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9BACDA0-B35D-2FED-47EB-9DD1F25CDF74}"/>
              </a:ext>
            </a:extLst>
          </p:cNvPr>
          <p:cNvSpPr/>
          <p:nvPr/>
        </p:nvSpPr>
        <p:spPr>
          <a:xfrm>
            <a:off x="6217920" y="999744"/>
            <a:ext cx="5669280" cy="5120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77EB031-3458-0D2D-7B21-F4AE916FE2C8}"/>
              </a:ext>
            </a:extLst>
          </p:cNvPr>
          <p:cNvSpPr/>
          <p:nvPr/>
        </p:nvSpPr>
        <p:spPr>
          <a:xfrm>
            <a:off x="6339840" y="999744"/>
            <a:ext cx="5425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GPT-OSS-120B—OpenAI (Default LLM)</a:t>
            </a:r>
            <a:endParaRPr lang="en-US" sz="1733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E491768-540C-A131-FEB3-8F77BD5B302D}"/>
              </a:ext>
            </a:extLst>
          </p:cNvPr>
          <p:cNvSpPr/>
          <p:nvPr/>
        </p:nvSpPr>
        <p:spPr>
          <a:xfrm>
            <a:off x="6364224" y="1584960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 powering the agent</a:t>
            </a:r>
            <a:endParaRPr lang="en-US" sz="1267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A13396E-702C-B64E-3890-005D4DDE3D8A}"/>
              </a:ext>
            </a:extLst>
          </p:cNvPr>
          <p:cNvSpPr/>
          <p:nvPr/>
        </p:nvSpPr>
        <p:spPr>
          <a:xfrm>
            <a:off x="6364224" y="1950720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understanding &amp; reasoning</a:t>
            </a:r>
            <a:endParaRPr lang="en-US" sz="1267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29B8C86-CB4D-D686-64EB-5FF6BD599D3A}"/>
              </a:ext>
            </a:extLst>
          </p:cNvPr>
          <p:cNvSpPr/>
          <p:nvPr/>
        </p:nvSpPr>
        <p:spPr>
          <a:xfrm>
            <a:off x="6364224" y="2316480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plan generation</a:t>
            </a:r>
            <a:endParaRPr lang="en-US" sz="1267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79401AA-F6E0-91E1-7876-8C0AAB6A4136}"/>
              </a:ext>
            </a:extLst>
          </p:cNvPr>
          <p:cNvSpPr/>
          <p:nvPr/>
        </p:nvSpPr>
        <p:spPr>
          <a:xfrm>
            <a:off x="6364224" y="2682240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tone-aware responses</a:t>
            </a:r>
            <a:endParaRPr lang="en-US" sz="1267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9CF428F-2CE7-388E-3C09-DF877EA6E78C}"/>
              </a:ext>
            </a:extLst>
          </p:cNvPr>
          <p:cNvSpPr/>
          <p:nvPr/>
        </p:nvSpPr>
        <p:spPr>
          <a:xfrm>
            <a:off x="6364224" y="3048000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via watsonx.ai model serving</a:t>
            </a:r>
            <a:endParaRPr lang="en-US" sz="1267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D10266C-C9F7-F332-9D33-F059636602DE}"/>
              </a:ext>
            </a:extLst>
          </p:cNvPr>
          <p:cNvSpPr/>
          <p:nvPr/>
        </p:nvSpPr>
        <p:spPr>
          <a:xfrm>
            <a:off x="243840" y="3779520"/>
            <a:ext cx="5669280" cy="262128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999AFB14-B5F9-116A-AEEC-129AF744CE36}"/>
              </a:ext>
            </a:extLst>
          </p:cNvPr>
          <p:cNvSpPr/>
          <p:nvPr/>
        </p:nvSpPr>
        <p:spPr>
          <a:xfrm>
            <a:off x="243840" y="3779520"/>
            <a:ext cx="5669280" cy="512064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2BE66A0-72E0-A0DC-ABE9-77EE581D7AD7}"/>
              </a:ext>
            </a:extLst>
          </p:cNvPr>
          <p:cNvSpPr/>
          <p:nvPr/>
        </p:nvSpPr>
        <p:spPr>
          <a:xfrm>
            <a:off x="365760" y="3779520"/>
            <a:ext cx="5425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IBM Cloud Lite (Free Tier)</a:t>
            </a:r>
            <a:endParaRPr lang="en-US" sz="1733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85FD638-5E9A-031A-1F54-96FE3A61E370}"/>
              </a:ext>
            </a:extLst>
          </p:cNvPr>
          <p:cNvSpPr/>
          <p:nvPr/>
        </p:nvSpPr>
        <p:spPr>
          <a:xfrm>
            <a:off x="390144" y="4364736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IBM Cloud account used</a:t>
            </a:r>
            <a:endParaRPr lang="en-US" sz="1267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EAC4C49-5430-8852-B12E-131D33EFE861}"/>
              </a:ext>
            </a:extLst>
          </p:cNvPr>
          <p:cNvSpPr/>
          <p:nvPr/>
        </p:nvSpPr>
        <p:spPr>
          <a:xfrm>
            <a:off x="390144" y="4730496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 Orchestrate Lite instance</a:t>
            </a:r>
            <a:endParaRPr lang="en-US" sz="1267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A4F4035-2B5D-873F-B20C-1C3F01486747}"/>
              </a:ext>
            </a:extLst>
          </p:cNvPr>
          <p:cNvSpPr/>
          <p:nvPr/>
        </p:nvSpPr>
        <p:spPr>
          <a:xfrm>
            <a:off x="390144" y="5096256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API Key for authentication</a:t>
            </a:r>
            <a:endParaRPr lang="en-US" sz="1267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B64D0C5-A0A4-9DB7-81F1-1366066497D1}"/>
              </a:ext>
            </a:extLst>
          </p:cNvPr>
          <p:cNvSpPr/>
          <p:nvPr/>
        </p:nvSpPr>
        <p:spPr>
          <a:xfrm>
            <a:off x="390144" y="5462016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CORS-compliant localhost deployment</a:t>
            </a:r>
            <a:endParaRPr lang="en-US" sz="1267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AF9256C9-A61F-CD1F-832B-164A58118CC6}"/>
              </a:ext>
            </a:extLst>
          </p:cNvPr>
          <p:cNvSpPr/>
          <p:nvPr/>
        </p:nvSpPr>
        <p:spPr>
          <a:xfrm>
            <a:off x="390144" y="5827776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au-syd.watson-orchestrate.cloud.ibm.com</a:t>
            </a:r>
            <a:endParaRPr lang="en-US" sz="1267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3B2E5EA9-CD25-160A-4CEE-ADB24DF9B087}"/>
              </a:ext>
            </a:extLst>
          </p:cNvPr>
          <p:cNvSpPr/>
          <p:nvPr/>
        </p:nvSpPr>
        <p:spPr>
          <a:xfrm>
            <a:off x="6217920" y="3779520"/>
            <a:ext cx="5669280" cy="262128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C490B469-877B-8F52-D5F8-76A157B1C621}"/>
              </a:ext>
            </a:extLst>
          </p:cNvPr>
          <p:cNvSpPr/>
          <p:nvPr/>
        </p:nvSpPr>
        <p:spPr>
          <a:xfrm>
            <a:off x="6217920" y="3779520"/>
            <a:ext cx="5669280" cy="5120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39ECA823-CD7B-6481-2E8E-A38D736114E6}"/>
              </a:ext>
            </a:extLst>
          </p:cNvPr>
          <p:cNvSpPr/>
          <p:nvPr/>
        </p:nvSpPr>
        <p:spPr>
          <a:xfrm>
            <a:off x="6339840" y="3779520"/>
            <a:ext cx="5425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HTML + JS Frontend</a:t>
            </a:r>
            <a:endParaRPr lang="en-US" sz="1733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9B707C1A-A9C3-9329-4177-47EBBBC81234}"/>
              </a:ext>
            </a:extLst>
          </p:cNvPr>
          <p:cNvSpPr/>
          <p:nvPr/>
        </p:nvSpPr>
        <p:spPr>
          <a:xfrm>
            <a:off x="6364224" y="4364736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file frontend</a:t>
            </a:r>
            <a:endParaRPr lang="en-US" sz="1267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31BA1B55-5B10-3FBB-E281-FE31DDA7A092}"/>
              </a:ext>
            </a:extLst>
          </p:cNvPr>
          <p:cNvSpPr/>
          <p:nvPr/>
        </p:nvSpPr>
        <p:spPr>
          <a:xfrm>
            <a:off x="6364224" y="4730496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wxOConfiguration object setup</a:t>
            </a:r>
            <a:endParaRPr lang="en-US" sz="1267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E2CFE7DA-55BA-DE25-8A2C-93FAF7767120}"/>
              </a:ext>
            </a:extLst>
          </p:cNvPr>
          <p:cNvSpPr/>
          <p:nvPr/>
        </p:nvSpPr>
        <p:spPr>
          <a:xfrm>
            <a:off x="6364224" y="5096256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wxoLoader.js injected dynamically</a:t>
            </a:r>
            <a:endParaRPr lang="en-US" sz="1267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B75B9C83-EA36-9EA3-98D6-3B76456208C2}"/>
              </a:ext>
            </a:extLst>
          </p:cNvPr>
          <p:cNvSpPr/>
          <p:nvPr/>
        </p:nvSpPr>
        <p:spPr>
          <a:xfrm>
            <a:off x="6364224" y="5462016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HTTP server for localhost</a:t>
            </a:r>
            <a:endParaRPr lang="en-US" sz="1267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13A9E299-A84E-5BD8-D935-B433D82AD61F}"/>
              </a:ext>
            </a:extLst>
          </p:cNvPr>
          <p:cNvSpPr/>
          <p:nvPr/>
        </p:nvSpPr>
        <p:spPr>
          <a:xfrm>
            <a:off x="6364224" y="5827776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rootElementID: 'root' div mount</a:t>
            </a:r>
            <a:endParaRPr lang="en-US" sz="1267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D802FAD8-DB55-7D24-C253-E11818C8A570}"/>
              </a:ext>
            </a:extLst>
          </p:cNvPr>
          <p:cNvSpPr/>
          <p:nvPr/>
        </p:nvSpPr>
        <p:spPr>
          <a:xfrm>
            <a:off x="0" y="6760464"/>
            <a:ext cx="12192000" cy="9753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236926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536"/>
            <a:ext cx="97536" cy="67604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182880"/>
            <a:ext cx="853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&amp; Uniqueness</a:t>
            </a:r>
            <a:endParaRPr lang="en-US" sz="3467" dirty="0"/>
          </a:p>
        </p:txBody>
      </p:sp>
      <p:sp>
        <p:nvSpPr>
          <p:cNvPr id="5" name="Text 3"/>
          <p:cNvSpPr/>
          <p:nvPr/>
        </p:nvSpPr>
        <p:spPr>
          <a:xfrm>
            <a:off x="30480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i="1" dirty="0">
                <a:solidFill>
                  <a:srgbClr val="6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Fitness Buddy stand out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243840" y="1194816"/>
            <a:ext cx="5669280" cy="1682496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43840" y="1194816"/>
            <a:ext cx="97536" cy="1682496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92352"/>
            <a:ext cx="53644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Holistic Single-Agent Design</a:t>
            </a:r>
            <a:endParaRPr lang="en-US" sz="1467" dirty="0"/>
          </a:p>
        </p:txBody>
      </p:sp>
      <p:sp>
        <p:nvSpPr>
          <p:cNvPr id="9" name="Text 7"/>
          <p:cNvSpPr/>
          <p:nvPr/>
        </p:nvSpPr>
        <p:spPr>
          <a:xfrm>
            <a:off x="438912" y="1731264"/>
            <a:ext cx="536448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multi-agent systems, Fitness Buddy achieves all 5 roles (workout, nutrition, motivation, habit-building, ethics) through a single expertly-crafted behavior instruction — simpler, faster, and more cost-effective on IBM Cloud Lite.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194816"/>
            <a:ext cx="5669280" cy="1682496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1194816"/>
            <a:ext cx="97536" cy="1682496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2992" y="1292352"/>
            <a:ext cx="53644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Built-in Ethical AI Guardrails</a:t>
            </a:r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6412992" y="1731264"/>
            <a:ext cx="536448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HAM (Helpful, Accurate, Mindful) principles are embedded directly in the agent behavior. The agent proactively refuses medical diagnosis and ensures safe guidance — not as an afterthought, but by design.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3840" y="3023616"/>
            <a:ext cx="5669280" cy="1682496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3840" y="3023616"/>
            <a:ext cx="97536" cy="1682496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121152"/>
            <a:ext cx="53644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🧑‍💼  Personalization Before Planning</a:t>
            </a:r>
            <a:endParaRPr lang="en-US" sz="1467" dirty="0"/>
          </a:p>
        </p:txBody>
      </p:sp>
      <p:sp>
        <p:nvSpPr>
          <p:cNvPr id="17" name="Text 15"/>
          <p:cNvSpPr/>
          <p:nvPr/>
        </p:nvSpPr>
        <p:spPr>
          <a:xfrm>
            <a:off x="438912" y="3560064"/>
            <a:ext cx="536448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data collection (age, fitness goal, activity level, diet type, medical history) before any plan generation ensures every recommendation is truly personalized — not generic one-size-fits-all advice.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023616"/>
            <a:ext cx="5669280" cy="1682496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3023616"/>
            <a:ext cx="97536" cy="1682496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2992" y="3121152"/>
            <a:ext cx="53644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100% IBM Cloud Lite (Free)</a:t>
            </a:r>
            <a:endParaRPr lang="en-US" sz="1467" dirty="0"/>
          </a:p>
        </p:txBody>
      </p:sp>
      <p:sp>
        <p:nvSpPr>
          <p:cNvPr id="21" name="Text 19"/>
          <p:cNvSpPr/>
          <p:nvPr/>
        </p:nvSpPr>
        <p:spPr>
          <a:xfrm>
            <a:off x="6412992" y="3560064"/>
            <a:ext cx="536448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solution runs on IBM Cloud Lite free tier — zero infrastructure cost. Makes it accessible for students and resource-constrained users while leveraging enterprise-grade AI.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43840" y="4852416"/>
            <a:ext cx="5669280" cy="1682496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43840" y="4852416"/>
            <a:ext cx="97536" cy="1682496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4949952"/>
            <a:ext cx="53644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Zero-Install Web Deployment</a:t>
            </a:r>
            <a:endParaRPr lang="en-US" sz="1467" dirty="0"/>
          </a:p>
        </p:txBody>
      </p:sp>
      <p:sp>
        <p:nvSpPr>
          <p:cNvPr id="25" name="Text 23"/>
          <p:cNvSpPr/>
          <p:nvPr/>
        </p:nvSpPr>
        <p:spPr>
          <a:xfrm>
            <a:off x="438912" y="5388864"/>
            <a:ext cx="536448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to install, no account required for users. A simple HTML web page with the watsonx embed script gives instant access to the AI coach from any browser on any device.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4852416"/>
            <a:ext cx="5669280" cy="1682496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4852416"/>
            <a:ext cx="97536" cy="1682496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12992" y="4949952"/>
            <a:ext cx="53644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Responsible AI for Health Domain</a:t>
            </a:r>
            <a:endParaRPr lang="en-US" sz="1467" dirty="0"/>
          </a:p>
        </p:txBody>
      </p:sp>
      <p:sp>
        <p:nvSpPr>
          <p:cNvPr id="29" name="Text 27"/>
          <p:cNvSpPr/>
          <p:nvPr/>
        </p:nvSpPr>
        <p:spPr>
          <a:xfrm>
            <a:off x="6412992" y="5388864"/>
            <a:ext cx="536448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IBM's AI ethics framework to a sensitive health domain. Clear boundaries between fitness coaching and medical advice protect users while building trust in AI-driven health tools.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760464"/>
            <a:ext cx="12192000" cy="9753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536"/>
            <a:ext cx="97536" cy="67604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182880"/>
            <a:ext cx="853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3467" dirty="0"/>
          </a:p>
        </p:txBody>
      </p:sp>
      <p:sp>
        <p:nvSpPr>
          <p:cNvPr id="8" name="Text 6"/>
          <p:cNvSpPr/>
          <p:nvPr/>
        </p:nvSpPr>
        <p:spPr>
          <a:xfrm>
            <a:off x="426720" y="1438656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Create a public GitHub repository with format: fitness-buddy-ibm-watsonx  (enable Add README during creation)</a:t>
            </a:r>
            <a:endParaRPr lang="en-US" sz="1333" dirty="0"/>
          </a:p>
        </p:txBody>
      </p:sp>
      <p:sp>
        <p:nvSpPr>
          <p:cNvPr id="11" name="Shape 9"/>
          <p:cNvSpPr/>
          <p:nvPr/>
        </p:nvSpPr>
        <p:spPr>
          <a:xfrm>
            <a:off x="304800" y="1353312"/>
            <a:ext cx="11643360" cy="853440"/>
          </a:xfrm>
          <a:prstGeom prst="rect">
            <a:avLst/>
          </a:prstGeom>
          <a:solidFill>
            <a:srgbClr val="0D1117"/>
          </a:solidFill>
          <a:ln w="19050">
            <a:solidFill>
              <a:srgbClr val="00C6A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3412" y="1353312"/>
            <a:ext cx="19507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 URL:</a:t>
            </a:r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2003814" y="1353312"/>
            <a:ext cx="92659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60C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https://github.com/ashishraj-hub/Fitness_Buddy.git</a:t>
            </a:r>
            <a:endParaRPr lang="en-US" sz="1733" dirty="0"/>
          </a:p>
        </p:txBody>
      </p:sp>
      <p:sp>
        <p:nvSpPr>
          <p:cNvPr id="14" name="Shape 12"/>
          <p:cNvSpPr/>
          <p:nvPr/>
        </p:nvSpPr>
        <p:spPr>
          <a:xfrm>
            <a:off x="304800" y="3340608"/>
            <a:ext cx="11643360" cy="2749296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04800" y="3340608"/>
            <a:ext cx="11643360" cy="43891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340608"/>
            <a:ext cx="1139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Required Files Checklist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" y="3915500"/>
            <a:ext cx="451104" cy="33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00D070"/>
                </a:solidFill>
              </a:rPr>
              <a:t>✅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5904" y="3881284"/>
            <a:ext cx="34137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Fitness buddy.html</a:t>
            </a:r>
            <a:endParaRPr lang="en-US" sz="1333" dirty="0"/>
          </a:p>
        </p:txBody>
      </p:sp>
      <p:sp>
        <p:nvSpPr>
          <p:cNvPr id="19" name="Text 17"/>
          <p:cNvSpPr/>
          <p:nvPr/>
        </p:nvSpPr>
        <p:spPr>
          <a:xfrm>
            <a:off x="4169664" y="3905816"/>
            <a:ext cx="74371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web page with watsonx Orchestrate web chat embed</a:t>
            </a:r>
            <a:endParaRPr lang="en-US" sz="1267" dirty="0"/>
          </a:p>
        </p:txBody>
      </p:sp>
      <p:sp>
        <p:nvSpPr>
          <p:cNvPr id="20" name="Text 18"/>
          <p:cNvSpPr/>
          <p:nvPr/>
        </p:nvSpPr>
        <p:spPr>
          <a:xfrm>
            <a:off x="389358" y="4338140"/>
            <a:ext cx="390144" cy="333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89358" y="4473764"/>
            <a:ext cx="39014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00D070"/>
                </a:solidFill>
              </a:rPr>
              <a:t>✅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9502" y="4453140"/>
            <a:ext cx="34137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fitness-buddy-Submission.pptx</a:t>
            </a:r>
            <a:endParaRPr lang="en-US" sz="1333" dirty="0"/>
          </a:p>
        </p:txBody>
      </p:sp>
      <p:sp>
        <p:nvSpPr>
          <p:cNvPr id="25" name="Text 23"/>
          <p:cNvSpPr/>
          <p:nvPr/>
        </p:nvSpPr>
        <p:spPr>
          <a:xfrm>
            <a:off x="4193262" y="4462248"/>
            <a:ext cx="74371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submission presentation</a:t>
            </a:r>
            <a:endParaRPr lang="en-US" sz="1267" dirty="0"/>
          </a:p>
        </p:txBody>
      </p:sp>
      <p:sp>
        <p:nvSpPr>
          <p:cNvPr id="26" name="Text 24"/>
          <p:cNvSpPr/>
          <p:nvPr/>
        </p:nvSpPr>
        <p:spPr>
          <a:xfrm>
            <a:off x="396240" y="4996543"/>
            <a:ext cx="359664" cy="365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00D070"/>
                </a:solidFill>
              </a:rPr>
              <a:t>✅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6864" y="4971509"/>
            <a:ext cx="34137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333" dirty="0"/>
          </a:p>
        </p:txBody>
      </p:sp>
      <p:sp>
        <p:nvSpPr>
          <p:cNvPr id="28" name="Text 26"/>
          <p:cNvSpPr/>
          <p:nvPr/>
        </p:nvSpPr>
        <p:spPr>
          <a:xfrm>
            <a:off x="4169664" y="4996543"/>
            <a:ext cx="74371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description, setup instructions, and demo screenshots</a:t>
            </a:r>
            <a:endParaRPr lang="en-US" sz="1267" dirty="0"/>
          </a:p>
        </p:txBody>
      </p:sp>
      <p:sp>
        <p:nvSpPr>
          <p:cNvPr id="29" name="Shape 27"/>
          <p:cNvSpPr/>
          <p:nvPr/>
        </p:nvSpPr>
        <p:spPr>
          <a:xfrm>
            <a:off x="0" y="6760464"/>
            <a:ext cx="12192000" cy="9753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653F674F-910A-0B8F-6CCB-40026779B1C8}"/>
              </a:ext>
            </a:extLst>
          </p:cNvPr>
          <p:cNvSpPr/>
          <p:nvPr/>
        </p:nvSpPr>
        <p:spPr>
          <a:xfrm>
            <a:off x="816864" y="5509242"/>
            <a:ext cx="34137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Fitness Buddy SS.pdf</a:t>
            </a:r>
            <a:endParaRPr lang="en-US" sz="1333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065B3566-A5DC-A61B-CF03-138233F6B9AE}"/>
              </a:ext>
            </a:extLst>
          </p:cNvPr>
          <p:cNvSpPr/>
          <p:nvPr/>
        </p:nvSpPr>
        <p:spPr>
          <a:xfrm>
            <a:off x="4169664" y="5534276"/>
            <a:ext cx="74371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screenshots</a:t>
            </a:r>
            <a:endParaRPr lang="en-US" sz="1267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92C6E6-F3E5-DEF4-EDDD-B94D65296DAB}"/>
              </a:ext>
            </a:extLst>
          </p:cNvPr>
          <p:cNvSpPr txBox="1"/>
          <p:nvPr/>
        </p:nvSpPr>
        <p:spPr>
          <a:xfrm>
            <a:off x="384048" y="5534276"/>
            <a:ext cx="2760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536"/>
            <a:ext cx="97536" cy="67604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182880"/>
            <a:ext cx="7315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3467" dirty="0"/>
          </a:p>
        </p:txBody>
      </p:sp>
      <p:sp>
        <p:nvSpPr>
          <p:cNvPr id="5" name="Text 3"/>
          <p:cNvSpPr/>
          <p:nvPr/>
        </p:nvSpPr>
        <p:spPr>
          <a:xfrm>
            <a:off x="30480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i="1" dirty="0">
                <a:solidFill>
                  <a:srgbClr val="6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for enhancing Fitness Buddy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243840" y="1194816"/>
            <a:ext cx="5669280" cy="1682496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43840" y="1194816"/>
            <a:ext cx="5669280" cy="48768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11040" y="1316736"/>
            <a:ext cx="1280160" cy="292608"/>
          </a:xfrm>
          <a:prstGeom prst="roundRect">
            <a:avLst>
              <a:gd name="adj" fmla="val 16667"/>
            </a:avLst>
          </a:prstGeom>
          <a:solidFill>
            <a:srgbClr val="1F70C1"/>
          </a:solidFill>
          <a:ln w="12700">
            <a:solidFill>
              <a:srgbClr val="1F70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1040" y="13167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67" dirty="0"/>
          </a:p>
        </p:txBody>
      </p:sp>
      <p:sp>
        <p:nvSpPr>
          <p:cNvPr id="10" name="Text 8"/>
          <p:cNvSpPr/>
          <p:nvPr/>
        </p:nvSpPr>
        <p:spPr>
          <a:xfrm>
            <a:off x="365760" y="1316736"/>
            <a:ext cx="40233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⌚  Wearable &amp; Health Device Integration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365760" y="1780032"/>
            <a:ext cx="5425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smartwatches (Apple Watch, Fitbit, Samsung Health) to collect real-time biometric data — steps, heart rate, calories burned, and sleep patterns — enabling dynamic, data-driven workout adjustments.</a:t>
            </a:r>
            <a:endParaRPr lang="en-US" sz="1133" dirty="0"/>
          </a:p>
        </p:txBody>
      </p:sp>
      <p:sp>
        <p:nvSpPr>
          <p:cNvPr id="12" name="Shape 10"/>
          <p:cNvSpPr/>
          <p:nvPr/>
        </p:nvSpPr>
        <p:spPr>
          <a:xfrm>
            <a:off x="6217920" y="1194816"/>
            <a:ext cx="5669280" cy="1682496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194816"/>
            <a:ext cx="5669280" cy="48768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85120" y="1316736"/>
            <a:ext cx="1280160" cy="292608"/>
          </a:xfrm>
          <a:prstGeom prst="roundRect">
            <a:avLst>
              <a:gd name="adj" fmla="val 16667"/>
            </a:avLst>
          </a:prstGeom>
          <a:solidFill>
            <a:srgbClr val="1F70C1"/>
          </a:solidFill>
          <a:ln w="12700">
            <a:solidFill>
              <a:srgbClr val="1F70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85120" y="13167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67" dirty="0"/>
          </a:p>
        </p:txBody>
      </p:sp>
      <p:sp>
        <p:nvSpPr>
          <p:cNvPr id="16" name="Text 14"/>
          <p:cNvSpPr/>
          <p:nvPr/>
        </p:nvSpPr>
        <p:spPr>
          <a:xfrm>
            <a:off x="6339840" y="1316736"/>
            <a:ext cx="40233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Voice Assistant &amp; Multilingual Support</a:t>
            </a:r>
            <a:endParaRPr lang="en-US" sz="1467" dirty="0"/>
          </a:p>
        </p:txBody>
      </p:sp>
      <p:sp>
        <p:nvSpPr>
          <p:cNvPr id="17" name="Text 15"/>
          <p:cNvSpPr/>
          <p:nvPr/>
        </p:nvSpPr>
        <p:spPr>
          <a:xfrm>
            <a:off x="6339840" y="1780032"/>
            <a:ext cx="5425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voice-enabled interaction using IBM Watson Speech-to-Text so users can speak their queries. Support 10+ languages for global accessibility, especially for non-English-speaking populations.</a:t>
            </a:r>
            <a:endParaRPr lang="en-US" sz="1133" dirty="0"/>
          </a:p>
        </p:txBody>
      </p:sp>
      <p:sp>
        <p:nvSpPr>
          <p:cNvPr id="18" name="Shape 16"/>
          <p:cNvSpPr/>
          <p:nvPr/>
        </p:nvSpPr>
        <p:spPr>
          <a:xfrm>
            <a:off x="243840" y="3023616"/>
            <a:ext cx="5669280" cy="1682496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3840" y="3023616"/>
            <a:ext cx="5669280" cy="48768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11040" y="3145536"/>
            <a:ext cx="1280160" cy="292608"/>
          </a:xfrm>
          <a:prstGeom prst="roundRect">
            <a:avLst>
              <a:gd name="adj" fmla="val 16667"/>
            </a:avLst>
          </a:prstGeom>
          <a:solidFill>
            <a:srgbClr val="1F70C1"/>
          </a:solidFill>
          <a:ln w="12700">
            <a:solidFill>
              <a:srgbClr val="1F70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11040" y="31455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67" dirty="0"/>
          </a:p>
        </p:txBody>
      </p:sp>
      <p:sp>
        <p:nvSpPr>
          <p:cNvPr id="22" name="Text 20"/>
          <p:cNvSpPr/>
          <p:nvPr/>
        </p:nvSpPr>
        <p:spPr>
          <a:xfrm>
            <a:off x="365760" y="3145536"/>
            <a:ext cx="40233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Progress Dashboard &amp; Analytics</a:t>
            </a:r>
            <a:endParaRPr lang="en-US" sz="1467" dirty="0"/>
          </a:p>
        </p:txBody>
      </p:sp>
      <p:sp>
        <p:nvSpPr>
          <p:cNvPr id="23" name="Text 21"/>
          <p:cNvSpPr/>
          <p:nvPr/>
        </p:nvSpPr>
        <p:spPr>
          <a:xfrm>
            <a:off x="365760" y="3608832"/>
            <a:ext cx="5425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visual dashboard using IBM Cognos or a React frontend showing weekly workout completion, calorie trends, habit streaks, and goal progress — giving users tangible evidence of improvement.</a:t>
            </a:r>
            <a:endParaRPr lang="en-US" sz="1133" dirty="0"/>
          </a:p>
        </p:txBody>
      </p:sp>
      <p:sp>
        <p:nvSpPr>
          <p:cNvPr id="24" name="Shape 22"/>
          <p:cNvSpPr/>
          <p:nvPr/>
        </p:nvSpPr>
        <p:spPr>
          <a:xfrm>
            <a:off x="6217920" y="3023616"/>
            <a:ext cx="5669280" cy="1682496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3023616"/>
            <a:ext cx="5669280" cy="48768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485120" y="3145536"/>
            <a:ext cx="1280160" cy="292608"/>
          </a:xfrm>
          <a:prstGeom prst="roundRect">
            <a:avLst>
              <a:gd name="adj" fmla="val 16667"/>
            </a:avLst>
          </a:prstGeom>
          <a:solidFill>
            <a:srgbClr val="1F70C1"/>
          </a:solidFill>
          <a:ln w="12700">
            <a:solidFill>
              <a:srgbClr val="1F70C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85120" y="31455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67" dirty="0"/>
          </a:p>
        </p:txBody>
      </p:sp>
      <p:sp>
        <p:nvSpPr>
          <p:cNvPr id="28" name="Text 26"/>
          <p:cNvSpPr/>
          <p:nvPr/>
        </p:nvSpPr>
        <p:spPr>
          <a:xfrm>
            <a:off x="6339840" y="3145536"/>
            <a:ext cx="40233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 RAG-Based Nutrition Knowledge Base</a:t>
            </a:r>
            <a:endParaRPr lang="en-US" sz="1467" dirty="0"/>
          </a:p>
        </p:txBody>
      </p:sp>
      <p:sp>
        <p:nvSpPr>
          <p:cNvPr id="29" name="Text 27"/>
          <p:cNvSpPr/>
          <p:nvPr/>
        </p:nvSpPr>
        <p:spPr>
          <a:xfrm>
            <a:off x="6339840" y="3608832"/>
            <a:ext cx="5425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 Retrieval-Augmented Generation pipeline with verified nutrition databases (USDA, WHO) stored in IBM Cloud Object Storage, enabling evidence-based dietary recommendations with source citations.</a:t>
            </a:r>
            <a:endParaRPr lang="en-US" sz="1133" dirty="0"/>
          </a:p>
        </p:txBody>
      </p:sp>
      <p:sp>
        <p:nvSpPr>
          <p:cNvPr id="30" name="Shape 28"/>
          <p:cNvSpPr/>
          <p:nvPr/>
        </p:nvSpPr>
        <p:spPr>
          <a:xfrm>
            <a:off x="243840" y="4852416"/>
            <a:ext cx="5669280" cy="1682496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3840" y="4852416"/>
            <a:ext cx="5669280" cy="48768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11040" y="4974336"/>
            <a:ext cx="1280160" cy="292608"/>
          </a:xfrm>
          <a:prstGeom prst="roundRect">
            <a:avLst>
              <a:gd name="adj" fmla="val 16667"/>
            </a:avLst>
          </a:prstGeom>
          <a:solidFill>
            <a:srgbClr val="1F70C1"/>
          </a:solidFill>
          <a:ln w="12700">
            <a:solidFill>
              <a:srgbClr val="1F70C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11040" y="49743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67" dirty="0"/>
          </a:p>
        </p:txBody>
      </p:sp>
      <p:sp>
        <p:nvSpPr>
          <p:cNvPr id="34" name="Text 32"/>
          <p:cNvSpPr/>
          <p:nvPr/>
        </p:nvSpPr>
        <p:spPr>
          <a:xfrm>
            <a:off x="365760" y="4974336"/>
            <a:ext cx="40233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Healthcare Provider Integration</a:t>
            </a:r>
            <a:endParaRPr lang="en-US" sz="1467" dirty="0"/>
          </a:p>
        </p:txBody>
      </p:sp>
      <p:sp>
        <p:nvSpPr>
          <p:cNvPr id="35" name="Text 33"/>
          <p:cNvSpPr/>
          <p:nvPr/>
        </p:nvSpPr>
        <p:spPr>
          <a:xfrm>
            <a:off x="365760" y="5437632"/>
            <a:ext cx="5425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healthcare APIs to allow doctors to set fitness boundaries for patients with chronic conditions, with Fitness Buddy respecting those constraints during plan generation.</a:t>
            </a:r>
            <a:endParaRPr lang="en-US" sz="1133" dirty="0"/>
          </a:p>
        </p:txBody>
      </p:sp>
      <p:sp>
        <p:nvSpPr>
          <p:cNvPr id="36" name="Shape 34"/>
          <p:cNvSpPr/>
          <p:nvPr/>
        </p:nvSpPr>
        <p:spPr>
          <a:xfrm>
            <a:off x="6217920" y="4852416"/>
            <a:ext cx="5669280" cy="1682496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4852416"/>
            <a:ext cx="5669280" cy="48768"/>
          </a:xfrm>
          <a:prstGeom prst="rect">
            <a:avLst/>
          </a:prstGeom>
          <a:solidFill>
            <a:srgbClr val="00C6A2"/>
          </a:solidFill>
          <a:ln w="12700">
            <a:solidFill>
              <a:srgbClr val="00C6A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485120" y="4974336"/>
            <a:ext cx="1280160" cy="292608"/>
          </a:xfrm>
          <a:prstGeom prst="roundRect">
            <a:avLst>
              <a:gd name="adj" fmla="val 16667"/>
            </a:avLst>
          </a:prstGeom>
          <a:solidFill>
            <a:srgbClr val="1F70C1"/>
          </a:solidFill>
          <a:ln w="12700">
            <a:solidFill>
              <a:srgbClr val="1F70C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485120" y="49743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67" dirty="0"/>
          </a:p>
        </p:txBody>
      </p:sp>
      <p:sp>
        <p:nvSpPr>
          <p:cNvPr id="40" name="Text 38"/>
          <p:cNvSpPr/>
          <p:nvPr/>
        </p:nvSpPr>
        <p:spPr>
          <a:xfrm>
            <a:off x="6339840" y="4974336"/>
            <a:ext cx="40233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Multi-Agent Specialization</a:t>
            </a:r>
            <a:endParaRPr lang="en-US" sz="1467" dirty="0"/>
          </a:p>
        </p:txBody>
      </p:sp>
      <p:sp>
        <p:nvSpPr>
          <p:cNvPr id="41" name="Text 39"/>
          <p:cNvSpPr/>
          <p:nvPr/>
        </p:nvSpPr>
        <p:spPr>
          <a:xfrm>
            <a:off x="6339840" y="5437632"/>
            <a:ext cx="5425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 from single-agent to multi-agent architecture on watsonx Orchestrate — dedicated agents for workout planning, nutrition, mental wellness, and progress tracking — each specializing in their domain.</a:t>
            </a:r>
            <a:endParaRPr lang="en-US" sz="1133" dirty="0"/>
          </a:p>
        </p:txBody>
      </p:sp>
      <p:sp>
        <p:nvSpPr>
          <p:cNvPr id="42" name="Shape 40"/>
          <p:cNvSpPr/>
          <p:nvPr/>
        </p:nvSpPr>
        <p:spPr>
          <a:xfrm>
            <a:off x="0" y="6760464"/>
            <a:ext cx="12192000" cy="9753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1294</TotalTime>
  <Words>1513</Words>
  <Application>Microsoft Office PowerPoint</Application>
  <PresentationFormat>Widescreen</PresentationFormat>
  <Paragraphs>216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Ashish Raj</cp:lastModifiedBy>
  <cp:revision>25</cp:revision>
  <dcterms:created xsi:type="dcterms:W3CDTF">2025-07-08T05:06:56Z</dcterms:created>
  <dcterms:modified xsi:type="dcterms:W3CDTF">2026-06-04T08:05:32Z</dcterms:modified>
</cp:coreProperties>
</file>