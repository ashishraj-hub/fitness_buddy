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58" r:id="rId4"/>
    <p:sldId id="259" r:id="rId5"/>
    <p:sldId id="260" r:id="rId6"/>
    <p:sldId id="265" r:id="rId7"/>
    <p:sldId id="290" r:id="rId8"/>
    <p:sldId id="263" r:id="rId9"/>
    <p:sldId id="287" r:id="rId10"/>
    <p:sldId id="289" r:id="rId11"/>
    <p:sldId id="266" r:id="rId12"/>
    <p:sldId id="267" r:id="rId13"/>
    <p:sldId id="268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580F-B129-633B-07C5-459D15D4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C440E-81EF-2431-66D1-1C5A7E77C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F5D17-5041-B9C7-F68B-8D5B62035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D82DA-AF77-172D-4426-DDA0CBA33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10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200A-56B3-C9E8-A343-8CC07E27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AC34B-3D8E-E543-49FD-A13440681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C50EA-299D-9F24-2C1D-0299145C3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4D31E-122C-6544-3EDB-13EDF4C24E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64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1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01032315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Ashish Raj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ashishraj1601@gmail.com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7070707480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Healthcare / Fitness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Fitness Buddy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DF34A-FF1F-A234-4781-E45DC148F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75" y="3683879"/>
            <a:ext cx="757545" cy="9739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975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Fitness Buddy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243840" y="1194816"/>
            <a:ext cx="5669280" cy="2804160"/>
          </a:xfrm>
          <a:prstGeom prst="rect">
            <a:avLst/>
          </a:prstGeom>
          <a:solidFill>
            <a:srgbClr val="132238"/>
          </a:solidFill>
          <a:ln w="12700">
            <a:solidFill>
              <a:srgbClr val="00C6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3840" y="1194816"/>
            <a:ext cx="5669280" cy="4632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800" y="1194816"/>
            <a:ext cx="5547360" cy="463296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7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Challenge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365760" y="1731264"/>
            <a:ext cx="5425440" cy="2170176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today's fast-paced world, many individuals struggle to maintain a healthy lifestyle due to: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personalized fitness guidance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constraints and rigid schedules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motivation and no accountability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subscriptions and in-person consultations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17920" y="1194816"/>
            <a:ext cx="5669280" cy="2804160"/>
          </a:xfrm>
          <a:prstGeom prst="rect">
            <a:avLst/>
          </a:prstGeom>
          <a:solidFill>
            <a:srgbClr val="132238"/>
          </a:solidFill>
          <a:ln w="1270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94816"/>
            <a:ext cx="5669280" cy="46329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8880" y="1194816"/>
            <a:ext cx="5547360" cy="463296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Objective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6339840" y="1731264"/>
            <a:ext cx="5425440" cy="2170176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Fitness Buddy agent on IBM watsonx Orchestrate that: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home workouts based on user goals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beginner-friendly nutrition guidance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daily motivation and habit encouragement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individual age, activity level &amp; diet preferences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3840" y="4169664"/>
            <a:ext cx="2743200" cy="121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3840" y="4242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3B+</a:t>
            </a:r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243840" y="4754880"/>
            <a:ext cx="2743200" cy="53644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lack fitness guidance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30880" y="4169664"/>
            <a:ext cx="2743200" cy="121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30880" y="4242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$100B+</a:t>
            </a:r>
            <a:endParaRPr lang="en-US" sz="2933" dirty="0"/>
          </a:p>
        </p:txBody>
      </p:sp>
      <p:sp>
        <p:nvSpPr>
          <p:cNvPr id="19" name="Text 17"/>
          <p:cNvSpPr/>
          <p:nvPr/>
        </p:nvSpPr>
        <p:spPr>
          <a:xfrm>
            <a:off x="3230880" y="4754880"/>
            <a:ext cx="2743200" cy="53644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fitness market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169664"/>
            <a:ext cx="2743200" cy="121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4242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933" dirty="0"/>
          </a:p>
        </p:txBody>
      </p:sp>
      <p:sp>
        <p:nvSpPr>
          <p:cNvPr id="22" name="Text 20"/>
          <p:cNvSpPr/>
          <p:nvPr/>
        </p:nvSpPr>
        <p:spPr>
          <a:xfrm>
            <a:off x="6217920" y="4754880"/>
            <a:ext cx="2743200" cy="53644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plans in 3 weeks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04960" y="4169664"/>
            <a:ext cx="2743200" cy="121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04960" y="4242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Agent</a:t>
            </a:r>
            <a:endParaRPr lang="en-US" sz="2933" dirty="0"/>
          </a:p>
        </p:txBody>
      </p:sp>
      <p:sp>
        <p:nvSpPr>
          <p:cNvPr id="25" name="Text 23"/>
          <p:cNvSpPr/>
          <p:nvPr/>
        </p:nvSpPr>
        <p:spPr>
          <a:xfrm>
            <a:off x="9204960" y="4754880"/>
            <a:ext cx="2743200" cy="53644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it all with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3840" y="5510784"/>
            <a:ext cx="11643360" cy="975360"/>
          </a:xfrm>
          <a:prstGeom prst="rect">
            <a:avLst/>
          </a:prstGeom>
          <a:solidFill>
            <a:srgbClr val="0A2010"/>
          </a:solidFill>
          <a:ln w="12700">
            <a:solidFill>
              <a:srgbClr val="00A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720" y="5583936"/>
            <a:ext cx="11338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0D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Ethical Guardrails Applied: No medical diagnosis provided · Follows HAM (Helpful, Accurate, Mindful) principles · Safe fitness guidance only · Respects user privacy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3467" dirty="0"/>
          </a:p>
        </p:txBody>
      </p:sp>
      <p:sp>
        <p:nvSpPr>
          <p:cNvPr id="7" name="Shape 5"/>
          <p:cNvSpPr/>
          <p:nvPr/>
        </p:nvSpPr>
        <p:spPr>
          <a:xfrm>
            <a:off x="243840" y="877824"/>
            <a:ext cx="11643360" cy="877824"/>
          </a:xfrm>
          <a:prstGeom prst="rect">
            <a:avLst/>
          </a:prstGeom>
          <a:solidFill>
            <a:srgbClr val="132238"/>
          </a:solidFill>
          <a:ln w="19050">
            <a:solidFill>
              <a:srgbClr val="00C6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3840" y="877824"/>
            <a:ext cx="121920" cy="877824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877824"/>
            <a:ext cx="11216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Used:  IBM watsonx Orchestrate  —  Single Agent with Behavior Instructions + IBM Granite LLM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243840" y="1926336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840" y="1926336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376" y="2048256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IBM watsonx Orchestrate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341376" y="2487168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376" y="2487168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Platform</a:t>
            </a:r>
            <a:endParaRPr lang="en-US" sz="1067" dirty="0"/>
          </a:p>
        </p:txBody>
      </p:sp>
      <p:sp>
        <p:nvSpPr>
          <p:cNvPr id="15" name="Text 13"/>
          <p:cNvSpPr/>
          <p:nvPr/>
        </p:nvSpPr>
        <p:spPr>
          <a:xfrm>
            <a:off x="341376" y="280416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AI agent deployment with behavior instructions, conversation management, and web chat embed.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1926336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1926336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3776" y="2048256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GPT-OSS-120B-OpenAI LLM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303776" y="2487168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03776" y="2487168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067" dirty="0"/>
          </a:p>
        </p:txBody>
      </p:sp>
      <p:sp>
        <p:nvSpPr>
          <p:cNvPr id="21" name="Text 19"/>
          <p:cNvSpPr/>
          <p:nvPr/>
        </p:nvSpPr>
        <p:spPr>
          <a:xfrm>
            <a:off x="4303776" y="280416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natural language understanding, personalized fitness plan generation, and motivational responses.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68640" y="1926336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68640" y="1926336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2048256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IBM Cloud Lite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8266176" y="2487168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487168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67" dirty="0"/>
          </a:p>
        </p:txBody>
      </p:sp>
      <p:sp>
        <p:nvSpPr>
          <p:cNvPr id="27" name="Text 25"/>
          <p:cNvSpPr/>
          <p:nvPr/>
        </p:nvSpPr>
        <p:spPr>
          <a:xfrm>
            <a:off x="8266176" y="280416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cloud hosting for the watsonx Orchestrate service with IAM security and API management.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3840" y="3974592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3840" y="3974592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376" y="409651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HTML + JavaScript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341376" y="4535424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376" y="453542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067" dirty="0"/>
          </a:p>
        </p:txBody>
      </p:sp>
      <p:sp>
        <p:nvSpPr>
          <p:cNvPr id="33" name="Text 31"/>
          <p:cNvSpPr/>
          <p:nvPr/>
        </p:nvSpPr>
        <p:spPr>
          <a:xfrm>
            <a:off x="341376" y="485241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 page embedding the watsonx web chat widget via the wxoLoader script and wxOConfiguration.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06240" y="3974592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06240" y="3974592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03776" y="409651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AI Ethics &amp; Guardrails</a:t>
            </a:r>
            <a:endParaRPr lang="en-US" sz="1467" dirty="0"/>
          </a:p>
        </p:txBody>
      </p:sp>
      <p:sp>
        <p:nvSpPr>
          <p:cNvPr id="37" name="Shape 35"/>
          <p:cNvSpPr/>
          <p:nvPr/>
        </p:nvSpPr>
        <p:spPr>
          <a:xfrm>
            <a:off x="4303776" y="4535424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03776" y="453542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67" dirty="0"/>
          </a:p>
        </p:txBody>
      </p:sp>
      <p:sp>
        <p:nvSpPr>
          <p:cNvPr id="39" name="Text 37"/>
          <p:cNvSpPr/>
          <p:nvPr/>
        </p:nvSpPr>
        <p:spPr>
          <a:xfrm>
            <a:off x="4303776" y="485241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principles applied: Helpful, Accurate, Mindful. No medical diagnosis. Safe fitness guidance only.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68640" y="3974592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68640" y="3974592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66176" y="409651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HTTP Server</a:t>
            </a:r>
            <a:endParaRPr lang="en-US" sz="1467" dirty="0"/>
          </a:p>
        </p:txBody>
      </p:sp>
      <p:sp>
        <p:nvSpPr>
          <p:cNvPr id="43" name="Shape 41"/>
          <p:cNvSpPr/>
          <p:nvPr/>
        </p:nvSpPr>
        <p:spPr>
          <a:xfrm>
            <a:off x="8266176" y="4535424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66176" y="453542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Server</a:t>
            </a:r>
            <a:endParaRPr lang="en-US" sz="1067" dirty="0"/>
          </a:p>
        </p:txBody>
      </p:sp>
      <p:sp>
        <p:nvSpPr>
          <p:cNvPr id="45" name="Text 43"/>
          <p:cNvSpPr/>
          <p:nvPr/>
        </p:nvSpPr>
        <p:spPr>
          <a:xfrm>
            <a:off x="8266176" y="485241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HTML file over localhost to satisfy IBM's CORS and origin requirements for embed widget.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Fitness Buddy on IBM watsonx Orchestrate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243840" y="1158240"/>
            <a:ext cx="11643360" cy="1097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3840" y="1158240"/>
            <a:ext cx="97536" cy="1097280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296" y="1194816"/>
            <a:ext cx="1127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Buddy is a single-agent, conversational AI health coach built on IBM watsonx Orchestrate. It uses a carefully crafted behavior instruction set (system prompt) to guide an IBM Granite LLM to act as a personalized fitness advisor. Users interact via a custom HTML web page that embeds the watsonx web chat widget.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3840" y="2377440"/>
            <a:ext cx="2194560" cy="34747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3840" y="2377440"/>
            <a:ext cx="21945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8784" y="2499360"/>
            <a:ext cx="804672" cy="804672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8784" y="24993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304800" y="3364992"/>
            <a:ext cx="2072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Fitness Guidance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341376" y="4023360"/>
            <a:ext cx="1999488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evidence-based home workout recommendations. Collects age, fitness goal, and activity level before generating any plan.</a:t>
            </a:r>
            <a:endParaRPr lang="en-US" sz="1133" dirty="0"/>
          </a:p>
        </p:txBody>
      </p:sp>
      <p:sp>
        <p:nvSpPr>
          <p:cNvPr id="15" name="Shape 13"/>
          <p:cNvSpPr/>
          <p:nvPr/>
        </p:nvSpPr>
        <p:spPr>
          <a:xfrm>
            <a:off x="2596896" y="2377440"/>
            <a:ext cx="2194560" cy="34747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96896" y="2377440"/>
            <a:ext cx="21945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499360"/>
            <a:ext cx="804672" cy="804672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4993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2657856" y="3364992"/>
            <a:ext cx="2072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Workout Plans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2694432" y="4023360"/>
            <a:ext cx="1999488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structured routines based on user's fitness level, available equipment, and time constraints — no gym needed.</a:t>
            </a:r>
            <a:endParaRPr lang="en-US" sz="1133" dirty="0"/>
          </a:p>
        </p:txBody>
      </p:sp>
      <p:sp>
        <p:nvSpPr>
          <p:cNvPr id="21" name="Shape 19"/>
          <p:cNvSpPr/>
          <p:nvPr/>
        </p:nvSpPr>
        <p:spPr>
          <a:xfrm>
            <a:off x="4949952" y="2377440"/>
            <a:ext cx="2194560" cy="34747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49952" y="2377440"/>
            <a:ext cx="21945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44896" y="2499360"/>
            <a:ext cx="804672" cy="804672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44896" y="24993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133" dirty="0"/>
          </a:p>
        </p:txBody>
      </p:sp>
      <p:sp>
        <p:nvSpPr>
          <p:cNvPr id="25" name="Text 23"/>
          <p:cNvSpPr/>
          <p:nvPr/>
        </p:nvSpPr>
        <p:spPr>
          <a:xfrm>
            <a:off x="5010912" y="3364992"/>
            <a:ext cx="2072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Nutrition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5047488" y="4023360"/>
            <a:ext cx="1999488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simple, balanced meal ideas based on veg/non-veg preference and any medical history like diabetes or blood pressure.</a:t>
            </a:r>
            <a:endParaRPr lang="en-US" sz="1133" dirty="0"/>
          </a:p>
        </p:txBody>
      </p:sp>
      <p:sp>
        <p:nvSpPr>
          <p:cNvPr id="27" name="Shape 25"/>
          <p:cNvSpPr/>
          <p:nvPr/>
        </p:nvSpPr>
        <p:spPr>
          <a:xfrm>
            <a:off x="7303008" y="2377440"/>
            <a:ext cx="2194560" cy="34747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03008" y="2377440"/>
            <a:ext cx="21945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97952" y="2499360"/>
            <a:ext cx="804672" cy="804672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97952" y="24993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133" dirty="0"/>
          </a:p>
        </p:txBody>
      </p:sp>
      <p:sp>
        <p:nvSpPr>
          <p:cNvPr id="31" name="Text 29"/>
          <p:cNvSpPr/>
          <p:nvPr/>
        </p:nvSpPr>
        <p:spPr>
          <a:xfrm>
            <a:off x="7363968" y="3364992"/>
            <a:ext cx="2072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Building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7400544" y="4023360"/>
            <a:ext cx="1999488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consistency, tracks user goals across conversation turns, and provides positive reinforcement messages.</a:t>
            </a:r>
            <a:endParaRPr lang="en-US" sz="1133" dirty="0"/>
          </a:p>
        </p:txBody>
      </p:sp>
      <p:sp>
        <p:nvSpPr>
          <p:cNvPr id="33" name="Shape 31"/>
          <p:cNvSpPr/>
          <p:nvPr/>
        </p:nvSpPr>
        <p:spPr>
          <a:xfrm>
            <a:off x="9656064" y="2377440"/>
            <a:ext cx="2194560" cy="34747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656064" y="2377440"/>
            <a:ext cx="21945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51008" y="2499360"/>
            <a:ext cx="804672" cy="804672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51008" y="24993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133" dirty="0"/>
          </a:p>
        </p:txBody>
      </p:sp>
      <p:sp>
        <p:nvSpPr>
          <p:cNvPr id="37" name="Text 35"/>
          <p:cNvSpPr/>
          <p:nvPr/>
        </p:nvSpPr>
        <p:spPr>
          <a:xfrm>
            <a:off x="9717024" y="3364992"/>
            <a:ext cx="2072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Motivation</a:t>
            </a:r>
            <a:endParaRPr lang="en-US" sz="1333" dirty="0"/>
          </a:p>
        </p:txBody>
      </p:sp>
      <p:sp>
        <p:nvSpPr>
          <p:cNvPr id="38" name="Text 36"/>
          <p:cNvSpPr/>
          <p:nvPr/>
        </p:nvSpPr>
        <p:spPr>
          <a:xfrm>
            <a:off x="9753600" y="4023360"/>
            <a:ext cx="1999488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energetic, personalized motivational messages. Uses a helpful, accurate, and mindful (HAM) communication tone.</a:t>
            </a:r>
            <a:endParaRPr lang="en-US" sz="1133" dirty="0"/>
          </a:p>
        </p:txBody>
      </p:sp>
      <p:sp>
        <p:nvSpPr>
          <p:cNvPr id="39" name="Shape 37"/>
          <p:cNvSpPr/>
          <p:nvPr/>
        </p:nvSpPr>
        <p:spPr>
          <a:xfrm>
            <a:off x="243840" y="5998464"/>
            <a:ext cx="11643360" cy="609600"/>
          </a:xfrm>
          <a:prstGeom prst="rect">
            <a:avLst/>
          </a:prstGeom>
          <a:solidFill>
            <a:srgbClr val="0A2010"/>
          </a:solidFill>
          <a:ln w="12700">
            <a:solidFill>
              <a:srgbClr val="00A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5998464"/>
            <a:ext cx="1139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0D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Never provides medical diagnosis  ·  Always asks for Age, Goal &amp; Activity Level first  ·  Follows ethical AI principles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Screenshots: </a:t>
            </a:r>
            <a:endParaRPr lang="en-US" sz="3467" dirty="0"/>
          </a:p>
        </p:txBody>
      </p:sp>
      <p:sp>
        <p:nvSpPr>
          <p:cNvPr id="37" name="Shape 35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880266F-B3E2-8D95-2971-600248F83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95" y="768096"/>
            <a:ext cx="4508966" cy="383411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6A172C9-93D3-7F8F-5012-C1F74166C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486" y="3905231"/>
            <a:ext cx="4064239" cy="355221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F689D52-57E3-B30C-5420-88F7FFC13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484" y="768096"/>
            <a:ext cx="4064240" cy="372422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05E978C-46B7-E74C-DB84-6C5E2E710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8604" y="3429000"/>
            <a:ext cx="3946097" cy="33073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4C993-889F-BF5C-4BF6-1BC033CA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53268B-E8DC-94E6-36B4-DDF158FB69CC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CF0E0C-67A2-AFDB-42B7-49A8D9E926E4}"/>
              </a:ext>
            </a:extLst>
          </p:cNvPr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515D7B-9577-BCF3-46D0-661BA2653FD9}"/>
              </a:ext>
            </a:extLst>
          </p:cNvPr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Screenshots: </a:t>
            </a:r>
            <a:endParaRPr lang="en-US" sz="3467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FE292D-E41D-4BED-D68B-9CE3D4B6FCFF}"/>
              </a:ext>
            </a:extLst>
          </p:cNvPr>
          <p:cNvSpPr/>
          <p:nvPr/>
        </p:nvSpPr>
        <p:spPr>
          <a:xfrm>
            <a:off x="5974080" y="853438"/>
            <a:ext cx="6138672" cy="2767585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8478C9A-0E81-8185-5273-5AF031F189BA}"/>
              </a:ext>
            </a:extLst>
          </p:cNvPr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06DE5538-D361-1C75-ABB7-C764C3FD8F0D}"/>
              </a:ext>
            </a:extLst>
          </p:cNvPr>
          <p:cNvSpPr/>
          <p:nvPr/>
        </p:nvSpPr>
        <p:spPr>
          <a:xfrm>
            <a:off x="304800" y="853440"/>
            <a:ext cx="5687568" cy="2767584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AA45AF96-2AD4-F429-D4FC-F116119A61B9}"/>
              </a:ext>
            </a:extLst>
          </p:cNvPr>
          <p:cNvSpPr/>
          <p:nvPr/>
        </p:nvSpPr>
        <p:spPr>
          <a:xfrm>
            <a:off x="323088" y="3852672"/>
            <a:ext cx="566928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BC0067AF-28A9-A367-5C73-9A20ACCC69D2}"/>
              </a:ext>
            </a:extLst>
          </p:cNvPr>
          <p:cNvSpPr/>
          <p:nvPr/>
        </p:nvSpPr>
        <p:spPr>
          <a:xfrm>
            <a:off x="6217920" y="3852672"/>
            <a:ext cx="566928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4E27C565-F2BB-D308-6A70-D6705B84F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08" y="845886"/>
            <a:ext cx="4358292" cy="364325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2CA9427-4D4F-9238-D6CC-A9D6BBAC4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269" y="3621024"/>
            <a:ext cx="4135595" cy="34130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70CCDE-5AAC-110F-2ACC-B7B99F20B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261" y="475488"/>
            <a:ext cx="4952340" cy="39437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58345E-F8D8-29E7-BEEE-FB0B103B6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1474" y="3326766"/>
            <a:ext cx="4601278" cy="323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6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Blueprint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Architecture on IBM Cloud Lite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243840" y="1158240"/>
            <a:ext cx="11643360" cy="853440"/>
          </a:xfrm>
          <a:prstGeom prst="rect">
            <a:avLst/>
          </a:prstGeom>
          <a:solidFill>
            <a:srgbClr val="081828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58240"/>
            <a:ext cx="17068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USER INTERFACE</a:t>
            </a:r>
            <a:endParaRPr lang="en-US" sz="933" dirty="0"/>
          </a:p>
        </p:txBody>
      </p:sp>
      <p:sp>
        <p:nvSpPr>
          <p:cNvPr id="8" name="Shape 6"/>
          <p:cNvSpPr/>
          <p:nvPr/>
        </p:nvSpPr>
        <p:spPr>
          <a:xfrm>
            <a:off x="2316480" y="1255776"/>
            <a:ext cx="2682240" cy="658368"/>
          </a:xfrm>
          <a:prstGeom prst="rect">
            <a:avLst/>
          </a:prstGeom>
          <a:solidFill>
            <a:srgbClr val="0D1B2E"/>
          </a:solidFill>
          <a:ln w="6350">
            <a:solidFill>
              <a:srgbClr val="00C6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6480" y="1255776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 Page)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98720" y="1584960"/>
            <a:ext cx="487680" cy="0"/>
          </a:xfrm>
          <a:prstGeom prst="line">
            <a:avLst/>
          </a:prstGeom>
          <a:noFill/>
          <a:ln w="12700">
            <a:solidFill>
              <a:srgbClr val="00C6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255776"/>
            <a:ext cx="2682240" cy="658368"/>
          </a:xfrm>
          <a:prstGeom prst="rect">
            <a:avLst/>
          </a:prstGeom>
          <a:solidFill>
            <a:srgbClr val="0D1B2E"/>
          </a:solidFill>
          <a:ln w="6350">
            <a:solidFill>
              <a:srgbClr val="00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255776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wxoLoader.js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 Script)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68640" y="1584960"/>
            <a:ext cx="487680" cy="0"/>
          </a:xfrm>
          <a:prstGeom prst="line">
            <a:avLst/>
          </a:prstGeom>
          <a:noFill/>
          <a:ln w="12700">
            <a:solidFill>
              <a:srgbClr val="00C6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56320" y="1255776"/>
            <a:ext cx="2682240" cy="658368"/>
          </a:xfrm>
          <a:prstGeom prst="rect">
            <a:avLst/>
          </a:prstGeom>
          <a:solidFill>
            <a:srgbClr val="0D1B2E"/>
          </a:solidFill>
          <a:ln w="6350">
            <a:solidFill>
              <a:srgbClr val="00C6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56320" y="1255776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Widget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(Embedded)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0" cy="365760"/>
          </a:xfrm>
          <a:prstGeom prst="line">
            <a:avLst/>
          </a:prstGeom>
          <a:noFill/>
          <a:ln w="25400">
            <a:solidFill>
              <a:srgbClr val="00C6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316480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API Calls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243840" y="2535936"/>
            <a:ext cx="11643360" cy="1158240"/>
          </a:xfrm>
          <a:prstGeom prst="rect">
            <a:avLst/>
          </a:prstGeom>
          <a:solidFill>
            <a:srgbClr val="081828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35936"/>
            <a:ext cx="17068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IBM watsonx ORCHESTRATE</a:t>
            </a:r>
            <a:endParaRPr lang="en-US" sz="933" dirty="0"/>
          </a:p>
        </p:txBody>
      </p:sp>
      <p:sp>
        <p:nvSpPr>
          <p:cNvPr id="20" name="Shape 18"/>
          <p:cNvSpPr/>
          <p:nvPr/>
        </p:nvSpPr>
        <p:spPr>
          <a:xfrm>
            <a:off x="2255520" y="2657856"/>
            <a:ext cx="1682496" cy="914400"/>
          </a:xfrm>
          <a:prstGeom prst="rect">
            <a:avLst/>
          </a:prstGeom>
          <a:solidFill>
            <a:srgbClr val="1F70C1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5520" y="2657856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Buddy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45280" y="2657856"/>
            <a:ext cx="1682496" cy="914400"/>
          </a:xfrm>
          <a:prstGeom prst="rect">
            <a:avLst/>
          </a:prstGeom>
          <a:solidFill>
            <a:srgbClr val="1F70C1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5280" y="2657856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657856"/>
            <a:ext cx="1682496" cy="914400"/>
          </a:xfrm>
          <a:prstGeom prst="rect">
            <a:avLst/>
          </a:prstGeom>
          <a:solidFill>
            <a:srgbClr val="1F70C1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657856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24800" y="2657856"/>
            <a:ext cx="1682496" cy="914400"/>
          </a:xfrm>
          <a:prstGeom prst="rect">
            <a:avLst/>
          </a:prstGeom>
          <a:solidFill>
            <a:srgbClr val="1F70C1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24800" y="2657856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14560" y="2657856"/>
            <a:ext cx="1682496" cy="914400"/>
          </a:xfrm>
          <a:prstGeom prst="rect">
            <a:avLst/>
          </a:prstGeom>
          <a:solidFill>
            <a:srgbClr val="1F70C1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14560" y="2657856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3694176"/>
            <a:ext cx="0" cy="341376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42560" y="3962400"/>
            <a:ext cx="1584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Calls</a:t>
            </a:r>
            <a:endParaRPr lang="en-US" sz="1067" dirty="0"/>
          </a:p>
        </p:txBody>
      </p:sp>
      <p:sp>
        <p:nvSpPr>
          <p:cNvPr id="32" name="Shape 30"/>
          <p:cNvSpPr/>
          <p:nvPr/>
        </p:nvSpPr>
        <p:spPr>
          <a:xfrm>
            <a:off x="243840" y="4181856"/>
            <a:ext cx="11643360" cy="914400"/>
          </a:xfrm>
          <a:prstGeom prst="rect">
            <a:avLst/>
          </a:prstGeom>
          <a:solidFill>
            <a:srgbClr val="0818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81856"/>
            <a:ext cx="170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IBM GRANITE LLM</a:t>
            </a:r>
            <a:endParaRPr lang="en-US" sz="933" dirty="0"/>
          </a:p>
        </p:txBody>
      </p:sp>
      <p:sp>
        <p:nvSpPr>
          <p:cNvPr id="34" name="Shape 32"/>
          <p:cNvSpPr/>
          <p:nvPr/>
        </p:nvSpPr>
        <p:spPr>
          <a:xfrm>
            <a:off x="2255520" y="4291584"/>
            <a:ext cx="2194560" cy="694944"/>
          </a:xfrm>
          <a:prstGeom prst="rect">
            <a:avLst/>
          </a:prstGeom>
          <a:solidFill>
            <a:srgbClr val="2D1B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55520" y="429158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93920" y="4291584"/>
            <a:ext cx="2194560" cy="694944"/>
          </a:xfrm>
          <a:prstGeom prst="rect">
            <a:avLst/>
          </a:prstGeom>
          <a:solidFill>
            <a:srgbClr val="2D1B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3920" y="429158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Understanding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Reasoning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32320" y="4291584"/>
            <a:ext cx="2194560" cy="694944"/>
          </a:xfrm>
          <a:prstGeom prst="rect">
            <a:avLst/>
          </a:prstGeom>
          <a:solidFill>
            <a:srgbClr val="2D1B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429158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Generation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Personalization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570720" y="4291584"/>
            <a:ext cx="2194560" cy="694944"/>
          </a:xfrm>
          <a:prstGeom prst="rect">
            <a:avLst/>
          </a:prstGeom>
          <a:solidFill>
            <a:srgbClr val="2D1B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70720" y="429158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Tone Control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43840" y="5242560"/>
            <a:ext cx="11643360" cy="877824"/>
          </a:xfrm>
          <a:prstGeom prst="rect">
            <a:avLst/>
          </a:prstGeom>
          <a:solidFill>
            <a:srgbClr val="0818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5242560"/>
            <a:ext cx="1706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IBM CLOUD LITE</a:t>
            </a:r>
            <a:endParaRPr lang="en-US" sz="933" dirty="0"/>
          </a:p>
        </p:txBody>
      </p:sp>
      <p:sp>
        <p:nvSpPr>
          <p:cNvPr id="44" name="Shape 42"/>
          <p:cNvSpPr/>
          <p:nvPr/>
        </p:nvSpPr>
        <p:spPr>
          <a:xfrm>
            <a:off x="2255520" y="5340096"/>
            <a:ext cx="2194560" cy="682752"/>
          </a:xfrm>
          <a:prstGeom prst="rect">
            <a:avLst/>
          </a:prstGeom>
          <a:solidFill>
            <a:srgbClr val="2818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55520" y="5340096"/>
            <a:ext cx="21945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API Keys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93920" y="5340096"/>
            <a:ext cx="2194560" cy="682752"/>
          </a:xfrm>
          <a:prstGeom prst="rect">
            <a:avLst/>
          </a:prstGeom>
          <a:solidFill>
            <a:srgbClr val="2818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3920" y="5340096"/>
            <a:ext cx="21945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au-syd Region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32320" y="5340096"/>
            <a:ext cx="2194560" cy="682752"/>
          </a:xfrm>
          <a:prstGeom prst="rect">
            <a:avLst/>
          </a:prstGeom>
          <a:solidFill>
            <a:srgbClr val="2818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5340096"/>
            <a:ext cx="21945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Object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(Free)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570720" y="5340096"/>
            <a:ext cx="2194560" cy="682752"/>
          </a:xfrm>
          <a:prstGeom prst="rect">
            <a:avLst/>
          </a:prstGeom>
          <a:solidFill>
            <a:srgbClr val="2818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70720" y="5340096"/>
            <a:ext cx="21945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Agentic AI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IBM watsonx Orchestrate enables intelligent, goal-driven fitness coaching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4572000" y="2499360"/>
            <a:ext cx="3048000" cy="3048000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249936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182880" y="1341120"/>
            <a:ext cx="414528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341120"/>
            <a:ext cx="4145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416" y="1463040"/>
            <a:ext cx="39502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Autonomous Decision-Making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280416" y="1975104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independently determines what info to collect, which plan to generate, and when to apply guardrails — without manual routing.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182880" y="3779520"/>
            <a:ext cx="414528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3779520"/>
            <a:ext cx="4145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416" y="3901440"/>
            <a:ext cx="39502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Context Awareness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280416" y="4413504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user profile (age, diet, medical history) throughout the conversation to deliver consistent, personalized responses.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8168640" y="1341120"/>
            <a:ext cx="402336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flipV="1">
            <a:off x="8168640" y="1292352"/>
            <a:ext cx="40233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1463040"/>
            <a:ext cx="39502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Goal-Driven Behavior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8266176" y="1975104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guides users toward fitness goals by collecting required data before generating any plan, ensuring relevance.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8168640" y="3779520"/>
            <a:ext cx="414528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68640" y="3779520"/>
            <a:ext cx="4145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6176" y="3901440"/>
            <a:ext cx="39502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Real-Time Adaptation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8266176" y="4413504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adapts tone, recommendations, and motivation based on user feedback and changing inputs during the session.</a:t>
            </a:r>
            <a:endParaRPr lang="en-US" sz="1267" dirty="0"/>
          </a:p>
        </p:txBody>
      </p:sp>
      <p:sp>
        <p:nvSpPr>
          <p:cNvPr id="24" name="Shape 22"/>
          <p:cNvSpPr/>
          <p:nvPr/>
        </p:nvSpPr>
        <p:spPr>
          <a:xfrm>
            <a:off x="243840" y="6096000"/>
            <a:ext cx="11643360" cy="512064"/>
          </a:xfrm>
          <a:prstGeom prst="rect">
            <a:avLst/>
          </a:prstGeom>
          <a:solidFill>
            <a:srgbClr val="0D1B2E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096000"/>
            <a:ext cx="1139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makes Fitness Buddy proactive, personalized, and goal-driven — acting as a smart digital fitness coach, not just a static chatbot.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42D98-DA83-4FBA-B4A4-D4CFA2A5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C07F6B-FF79-040A-57FF-8113AA386106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19F5935-EAB0-6B48-E16C-C130A80FB56A}"/>
              </a:ext>
            </a:extLst>
          </p:cNvPr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8ECB9B-9683-1C46-6B0A-C0390E17C77E}"/>
              </a:ext>
            </a:extLst>
          </p:cNvPr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Details</a:t>
            </a:r>
            <a:endParaRPr lang="en-US" sz="34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938A9C5-19E4-DCD2-5BAA-93013A442773}"/>
              </a:ext>
            </a:extLst>
          </p:cNvPr>
          <p:cNvSpPr/>
          <p:nvPr/>
        </p:nvSpPr>
        <p:spPr>
          <a:xfrm>
            <a:off x="243840" y="999744"/>
            <a:ext cx="566928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596D8AA-9535-05B6-E12D-03C07332448A}"/>
              </a:ext>
            </a:extLst>
          </p:cNvPr>
          <p:cNvSpPr/>
          <p:nvPr/>
        </p:nvSpPr>
        <p:spPr>
          <a:xfrm>
            <a:off x="243840" y="999744"/>
            <a:ext cx="5669280" cy="512064"/>
          </a:xfrm>
          <a:prstGeom prst="rect">
            <a:avLst/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8DF7E1-5541-9F49-1774-62C89218D028}"/>
              </a:ext>
            </a:extLst>
          </p:cNvPr>
          <p:cNvSpPr/>
          <p:nvPr/>
        </p:nvSpPr>
        <p:spPr>
          <a:xfrm>
            <a:off x="365760" y="999744"/>
            <a:ext cx="542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IBM watsonx Orchestrate</a:t>
            </a:r>
            <a:endParaRPr lang="en-US" sz="1733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0A53ED9-E690-9A4B-C11A-0BFB5571D356}"/>
              </a:ext>
            </a:extLst>
          </p:cNvPr>
          <p:cNvSpPr/>
          <p:nvPr/>
        </p:nvSpPr>
        <p:spPr>
          <a:xfrm>
            <a:off x="390144" y="158496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building and deploying AI agents</a:t>
            </a:r>
            <a:endParaRPr lang="en-US" sz="1267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896720-1381-91FB-FBC7-6FF5F6A1FF0A}"/>
              </a:ext>
            </a:extLst>
          </p:cNvPr>
          <p:cNvSpPr/>
          <p:nvPr/>
        </p:nvSpPr>
        <p:spPr>
          <a:xfrm>
            <a:off x="390144" y="19507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with behavior instructions</a:t>
            </a:r>
            <a:endParaRPr lang="en-US" sz="1267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6429DD3-92AF-F9B4-FDA1-691B474CA849}"/>
              </a:ext>
            </a:extLst>
          </p:cNvPr>
          <p:cNvSpPr/>
          <p:nvPr/>
        </p:nvSpPr>
        <p:spPr>
          <a:xfrm>
            <a:off x="390144" y="231648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widget with wxoLoader.js embed</a:t>
            </a:r>
            <a:endParaRPr lang="en-US" sz="1267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EEDAAE1-EC32-402E-D53A-C6457095FBF5}"/>
              </a:ext>
            </a:extLst>
          </p:cNvPr>
          <p:cNvSpPr/>
          <p:nvPr/>
        </p:nvSpPr>
        <p:spPr>
          <a:xfrm>
            <a:off x="390144" y="268224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IBM Cloud (au-syd region)</a:t>
            </a:r>
            <a:endParaRPr lang="en-US" sz="1267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7A5C8E-E8E1-5578-E5A5-71CAAF412649}"/>
              </a:ext>
            </a:extLst>
          </p:cNvPr>
          <p:cNvSpPr/>
          <p:nvPr/>
        </p:nvSpPr>
        <p:spPr>
          <a:xfrm>
            <a:off x="390144" y="304800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AgentID: 9a497dbc-e774-4f20-a072-4c826379a0c0</a:t>
            </a:r>
            <a:endParaRPr lang="en-US" sz="1267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CEA7401-60CB-0C17-0D09-9A5CAB6D0798}"/>
              </a:ext>
            </a:extLst>
          </p:cNvPr>
          <p:cNvSpPr/>
          <p:nvPr/>
        </p:nvSpPr>
        <p:spPr>
          <a:xfrm>
            <a:off x="6217920" y="999744"/>
            <a:ext cx="566928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9BACDA0-B35D-2FED-47EB-9DD1F25CDF74}"/>
              </a:ext>
            </a:extLst>
          </p:cNvPr>
          <p:cNvSpPr/>
          <p:nvPr/>
        </p:nvSpPr>
        <p:spPr>
          <a:xfrm>
            <a:off x="6217920" y="999744"/>
            <a:ext cx="5669280" cy="5120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77EB031-3458-0D2D-7B21-F4AE916FE2C8}"/>
              </a:ext>
            </a:extLst>
          </p:cNvPr>
          <p:cNvSpPr/>
          <p:nvPr/>
        </p:nvSpPr>
        <p:spPr>
          <a:xfrm>
            <a:off x="6339840" y="999744"/>
            <a:ext cx="542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GPT-OSS-120B—OpenAI (Default LLM)</a:t>
            </a:r>
            <a:endParaRPr lang="en-US" sz="1733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E491768-540C-A131-FEB3-8F77BD5B302D}"/>
              </a:ext>
            </a:extLst>
          </p:cNvPr>
          <p:cNvSpPr/>
          <p:nvPr/>
        </p:nvSpPr>
        <p:spPr>
          <a:xfrm>
            <a:off x="6364224" y="158496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powering the agent</a:t>
            </a:r>
            <a:endParaRPr lang="en-US" sz="1267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13396E-702C-B64E-3890-005D4DDE3D8A}"/>
              </a:ext>
            </a:extLst>
          </p:cNvPr>
          <p:cNvSpPr/>
          <p:nvPr/>
        </p:nvSpPr>
        <p:spPr>
          <a:xfrm>
            <a:off x="6364224" y="19507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 &amp; reasoning</a:t>
            </a:r>
            <a:endParaRPr lang="en-US" sz="1267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29B8C86-CB4D-D686-64EB-5FF6BD599D3A}"/>
              </a:ext>
            </a:extLst>
          </p:cNvPr>
          <p:cNvSpPr/>
          <p:nvPr/>
        </p:nvSpPr>
        <p:spPr>
          <a:xfrm>
            <a:off x="6364224" y="231648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plan generation</a:t>
            </a:r>
            <a:endParaRPr lang="en-US" sz="1267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79401AA-F6E0-91E1-7876-8C0AAB6A4136}"/>
              </a:ext>
            </a:extLst>
          </p:cNvPr>
          <p:cNvSpPr/>
          <p:nvPr/>
        </p:nvSpPr>
        <p:spPr>
          <a:xfrm>
            <a:off x="6364224" y="268224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tone-aware responses</a:t>
            </a:r>
            <a:endParaRPr lang="en-US" sz="1267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9CF428F-2CE7-388E-3C09-DF877EA6E78C}"/>
              </a:ext>
            </a:extLst>
          </p:cNvPr>
          <p:cNvSpPr/>
          <p:nvPr/>
        </p:nvSpPr>
        <p:spPr>
          <a:xfrm>
            <a:off x="6364224" y="304800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watsonx.ai model serving</a:t>
            </a:r>
            <a:endParaRPr lang="en-US" sz="1267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D10266C-C9F7-F332-9D33-F059636602DE}"/>
              </a:ext>
            </a:extLst>
          </p:cNvPr>
          <p:cNvSpPr/>
          <p:nvPr/>
        </p:nvSpPr>
        <p:spPr>
          <a:xfrm>
            <a:off x="243840" y="3779520"/>
            <a:ext cx="566928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99AFB14-B5F9-116A-AEEC-129AF744CE36}"/>
              </a:ext>
            </a:extLst>
          </p:cNvPr>
          <p:cNvSpPr/>
          <p:nvPr/>
        </p:nvSpPr>
        <p:spPr>
          <a:xfrm>
            <a:off x="243840" y="3779520"/>
            <a:ext cx="5669280" cy="51206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2BE66A0-72E0-A0DC-ABE9-77EE581D7AD7}"/>
              </a:ext>
            </a:extLst>
          </p:cNvPr>
          <p:cNvSpPr/>
          <p:nvPr/>
        </p:nvSpPr>
        <p:spPr>
          <a:xfrm>
            <a:off x="365760" y="3779520"/>
            <a:ext cx="542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IBM Cloud Lite (Free Tier)</a:t>
            </a:r>
            <a:endParaRPr lang="en-US" sz="1733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85FD638-5E9A-031A-1F54-96FE3A61E370}"/>
              </a:ext>
            </a:extLst>
          </p:cNvPr>
          <p:cNvSpPr/>
          <p:nvPr/>
        </p:nvSpPr>
        <p:spPr>
          <a:xfrm>
            <a:off x="390144" y="436473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IBM Cloud account used</a:t>
            </a:r>
            <a:endParaRPr lang="en-US" sz="1267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EAC4C49-5430-8852-B12E-131D33EFE861}"/>
              </a:ext>
            </a:extLst>
          </p:cNvPr>
          <p:cNvSpPr/>
          <p:nvPr/>
        </p:nvSpPr>
        <p:spPr>
          <a:xfrm>
            <a:off x="390144" y="473049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 Orchestrate Lite instance</a:t>
            </a:r>
            <a:endParaRPr lang="en-US" sz="1267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A4F4035-2B5D-873F-B20C-1C3F01486747}"/>
              </a:ext>
            </a:extLst>
          </p:cNvPr>
          <p:cNvSpPr/>
          <p:nvPr/>
        </p:nvSpPr>
        <p:spPr>
          <a:xfrm>
            <a:off x="390144" y="509625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API Key for authentication</a:t>
            </a:r>
            <a:endParaRPr lang="en-US" sz="1267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B64D0C5-A0A4-9DB7-81F1-1366066497D1}"/>
              </a:ext>
            </a:extLst>
          </p:cNvPr>
          <p:cNvSpPr/>
          <p:nvPr/>
        </p:nvSpPr>
        <p:spPr>
          <a:xfrm>
            <a:off x="390144" y="546201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CORS-compliant localhost deployment</a:t>
            </a:r>
            <a:endParaRPr lang="en-US" sz="1267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F9256C9-A61F-CD1F-832B-164A58118CC6}"/>
              </a:ext>
            </a:extLst>
          </p:cNvPr>
          <p:cNvSpPr/>
          <p:nvPr/>
        </p:nvSpPr>
        <p:spPr>
          <a:xfrm>
            <a:off x="390144" y="582777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au-syd.watson-orchestrate.cloud.ibm.com</a:t>
            </a:r>
            <a:endParaRPr lang="en-US" sz="1267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B2E5EA9-CD25-160A-4CEE-ADB24DF9B087}"/>
              </a:ext>
            </a:extLst>
          </p:cNvPr>
          <p:cNvSpPr/>
          <p:nvPr/>
        </p:nvSpPr>
        <p:spPr>
          <a:xfrm>
            <a:off x="6217920" y="3779520"/>
            <a:ext cx="566928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490B469-877B-8F52-D5F8-76A157B1C621}"/>
              </a:ext>
            </a:extLst>
          </p:cNvPr>
          <p:cNvSpPr/>
          <p:nvPr/>
        </p:nvSpPr>
        <p:spPr>
          <a:xfrm>
            <a:off x="6217920" y="3779520"/>
            <a:ext cx="5669280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9ECA823-CD7B-6481-2E8E-A38D736114E6}"/>
              </a:ext>
            </a:extLst>
          </p:cNvPr>
          <p:cNvSpPr/>
          <p:nvPr/>
        </p:nvSpPr>
        <p:spPr>
          <a:xfrm>
            <a:off x="6339840" y="3779520"/>
            <a:ext cx="542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HTML + JS Frontend</a:t>
            </a:r>
            <a:endParaRPr lang="en-US" sz="1733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B707C1A-A9C3-9329-4177-47EBBBC81234}"/>
              </a:ext>
            </a:extLst>
          </p:cNvPr>
          <p:cNvSpPr/>
          <p:nvPr/>
        </p:nvSpPr>
        <p:spPr>
          <a:xfrm>
            <a:off x="6364224" y="436473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frontend</a:t>
            </a:r>
            <a:endParaRPr lang="en-US" sz="1267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1BA1B55-5B10-3FBB-E281-FE31DDA7A092}"/>
              </a:ext>
            </a:extLst>
          </p:cNvPr>
          <p:cNvSpPr/>
          <p:nvPr/>
        </p:nvSpPr>
        <p:spPr>
          <a:xfrm>
            <a:off x="6364224" y="473049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wxOConfiguration object setup</a:t>
            </a:r>
            <a:endParaRPr lang="en-US" sz="1267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2CFE7DA-55BA-DE25-8A2C-93FAF7767120}"/>
              </a:ext>
            </a:extLst>
          </p:cNvPr>
          <p:cNvSpPr/>
          <p:nvPr/>
        </p:nvSpPr>
        <p:spPr>
          <a:xfrm>
            <a:off x="6364224" y="509625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wxoLoader.js injected dynamically</a:t>
            </a:r>
            <a:endParaRPr lang="en-US" sz="1267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75B9C83-EA36-9EA3-98D6-3B76456208C2}"/>
              </a:ext>
            </a:extLst>
          </p:cNvPr>
          <p:cNvSpPr/>
          <p:nvPr/>
        </p:nvSpPr>
        <p:spPr>
          <a:xfrm>
            <a:off x="6364224" y="546201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HTTP server for localhost</a:t>
            </a:r>
            <a:endParaRPr lang="en-US" sz="1267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3A9E299-A84E-5BD8-D935-B433D82AD61F}"/>
              </a:ext>
            </a:extLst>
          </p:cNvPr>
          <p:cNvSpPr/>
          <p:nvPr/>
        </p:nvSpPr>
        <p:spPr>
          <a:xfrm>
            <a:off x="6364224" y="582777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rootElementID: 'root' div mount</a:t>
            </a:r>
            <a:endParaRPr lang="en-US" sz="1267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D802FAD8-DB55-7D24-C253-E11818C8A570}"/>
              </a:ext>
            </a:extLst>
          </p:cNvPr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3692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Uniqueness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Fitness Buddy stand out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243840" y="11948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3840" y="11948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923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Holistic Single-Agent Design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438912" y="17312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multi-agent systems, Fitness Buddy achieves all 5 roles (workout, nutrition, motivation, habit-building, ethics) through a single expertly-crafted behavior instruction — simpler, faster, and more cost-effective on IBM Cloud Lite.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948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948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2992" y="12923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Built-in Ethical AI Guardrails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412992" y="17312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HAM (Helpful, Accurate, Mindful) principles are embedded directly in the agent behavior. The agent proactively refuses medical diagnosis and ensures safe guidance — not as an afterthought, but by design.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3840" y="30236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3840" y="30236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211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 Personalization Before Planning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438912" y="35600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data collection (age, fitness goal, activity level, diet type, medical history) before any plan generation ensures every recommendation is truly personalized — not generic one-size-fits-all advice.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0236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0236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2992" y="31211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100% IBM Cloud Lite (Free)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412992" y="35600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solution runs on IBM Cloud Lite free tier — zero infrastructure cost. Makes it accessible for students and resource-constrained users while leveraging enterprise-grade AI.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3840" y="48524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3840" y="48524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9499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Zero-Install Web Deployment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438912" y="53888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install, no account required for users. A simple HTML web page with the watsonx embed script gives instant access to the AI coach from any browser on any device.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8524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8524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2992" y="49499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Responsible AI for Health Domain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6412992" y="53888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IBM's AI ethics framework to a sensitive health domain. Clear boundaries between fitness coaching and medical advice protect users while building trust in AI-driven health tools.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3467" dirty="0"/>
          </a:p>
        </p:txBody>
      </p:sp>
      <p:sp>
        <p:nvSpPr>
          <p:cNvPr id="8" name="Text 6"/>
          <p:cNvSpPr/>
          <p:nvPr/>
        </p:nvSpPr>
        <p:spPr>
          <a:xfrm>
            <a:off x="426720" y="1438656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a public GitHub repository with format: fitness-buddy-ibm-watsonx  (enable Add README during creation)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304800" y="1353312"/>
            <a:ext cx="11643360" cy="853440"/>
          </a:xfrm>
          <a:prstGeom prst="rect">
            <a:avLst/>
          </a:prstGeom>
          <a:solidFill>
            <a:srgbClr val="0D1117"/>
          </a:solidFill>
          <a:ln w="19050">
            <a:solidFill>
              <a:srgbClr val="00C6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3412" y="1353312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 URL: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2003814" y="1353312"/>
            <a:ext cx="9265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6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https://github.com/ashishraj-hub/Fitness_Buddy.git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304800" y="3340608"/>
            <a:ext cx="11643360" cy="27492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4800" y="3340608"/>
            <a:ext cx="11643360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40608"/>
            <a:ext cx="1139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Required Files Checklist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3915500"/>
            <a:ext cx="451104" cy="3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D070"/>
                </a:solidFill>
              </a:rPr>
              <a:t>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5904" y="3881284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 buddy.html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4169664" y="3905816"/>
            <a:ext cx="7437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page with watsonx Orchestrate web chat embed</a:t>
            </a:r>
            <a:endParaRPr lang="en-US" sz="1267" dirty="0"/>
          </a:p>
        </p:txBody>
      </p:sp>
      <p:sp>
        <p:nvSpPr>
          <p:cNvPr id="20" name="Text 18"/>
          <p:cNvSpPr/>
          <p:nvPr/>
        </p:nvSpPr>
        <p:spPr>
          <a:xfrm>
            <a:off x="389358" y="4338140"/>
            <a:ext cx="390144" cy="33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9358" y="4473764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D070"/>
                </a:solidFill>
              </a:rPr>
              <a:t>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9502" y="4453140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fitness-buddy-Submission.pptx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4193262" y="4462248"/>
            <a:ext cx="7437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submission presentation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396240" y="4996543"/>
            <a:ext cx="359664" cy="365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D07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6864" y="4971509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4169664" y="4996543"/>
            <a:ext cx="7437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description, setup instructions, and demo screenshots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653F674F-910A-0B8F-6CCB-40026779B1C8}"/>
              </a:ext>
            </a:extLst>
          </p:cNvPr>
          <p:cNvSpPr/>
          <p:nvPr/>
        </p:nvSpPr>
        <p:spPr>
          <a:xfrm>
            <a:off x="816864" y="5509242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 Buddy SS.pdf</a:t>
            </a:r>
            <a:endParaRPr lang="en-US" sz="1333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065B3566-A5DC-A61B-CF03-138233F6B9AE}"/>
              </a:ext>
            </a:extLst>
          </p:cNvPr>
          <p:cNvSpPr/>
          <p:nvPr/>
        </p:nvSpPr>
        <p:spPr>
          <a:xfrm>
            <a:off x="4169664" y="5534276"/>
            <a:ext cx="7437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screenshots</a:t>
            </a:r>
            <a:endParaRPr lang="en-US" sz="126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2C6E6-F3E5-DEF4-EDDD-B94D65296DAB}"/>
              </a:ext>
            </a:extLst>
          </p:cNvPr>
          <p:cNvSpPr txBox="1"/>
          <p:nvPr/>
        </p:nvSpPr>
        <p:spPr>
          <a:xfrm>
            <a:off x="384048" y="5534276"/>
            <a:ext cx="276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enhancing Fitness Buddy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243840" y="11948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3840" y="11948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11040" y="13167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1040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67" dirty="0"/>
          </a:p>
        </p:txBody>
      </p:sp>
      <p:sp>
        <p:nvSpPr>
          <p:cNvPr id="10" name="Text 8"/>
          <p:cNvSpPr/>
          <p:nvPr/>
        </p:nvSpPr>
        <p:spPr>
          <a:xfrm>
            <a:off x="365760" y="13167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⌚  Wearable &amp; Health Device Integration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365760" y="17800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smartwatches (Apple Watch, Fitbit, Samsung Health) to collect real-time biometric data — steps, heart rate, calories burned, and sleep patterns — enabling dynamic, data-driven workout adjustments.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>
            <a:off x="6217920" y="11948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948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85120" y="13167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85120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67" dirty="0"/>
          </a:p>
        </p:txBody>
      </p:sp>
      <p:sp>
        <p:nvSpPr>
          <p:cNvPr id="16" name="Text 14"/>
          <p:cNvSpPr/>
          <p:nvPr/>
        </p:nvSpPr>
        <p:spPr>
          <a:xfrm>
            <a:off x="6339840" y="13167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Voice Assistant &amp; Multilingual Support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6339840" y="17800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voice-enabled interaction using IBM Watson Speech-to-Text so users can speak their queries. Support 10+ languages for global accessibility, especially for non-English-speaking populations.</a:t>
            </a:r>
            <a:endParaRPr lang="en-US" sz="1133" dirty="0"/>
          </a:p>
        </p:txBody>
      </p:sp>
      <p:sp>
        <p:nvSpPr>
          <p:cNvPr id="18" name="Shape 16"/>
          <p:cNvSpPr/>
          <p:nvPr/>
        </p:nvSpPr>
        <p:spPr>
          <a:xfrm>
            <a:off x="243840" y="30236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3840" y="30236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1040" y="31455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1040" y="31455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67" dirty="0"/>
          </a:p>
        </p:txBody>
      </p:sp>
      <p:sp>
        <p:nvSpPr>
          <p:cNvPr id="22" name="Text 20"/>
          <p:cNvSpPr/>
          <p:nvPr/>
        </p:nvSpPr>
        <p:spPr>
          <a:xfrm>
            <a:off x="365760" y="31455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Progress Dashboard &amp; Analytics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365760" y="36088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visual dashboard using IBM Cognos or a React frontend showing weekly workout completion, calorie trends, habit streaks, and goal progress — giving users tangible evidence of improvement.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6217920" y="30236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0236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85120" y="31455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85120" y="31455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67" dirty="0"/>
          </a:p>
        </p:txBody>
      </p:sp>
      <p:sp>
        <p:nvSpPr>
          <p:cNvPr id="28" name="Text 26"/>
          <p:cNvSpPr/>
          <p:nvPr/>
        </p:nvSpPr>
        <p:spPr>
          <a:xfrm>
            <a:off x="6339840" y="31455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RAG-Based Nutrition Knowledge Base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6339840" y="36088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Retrieval-Augmented Generation pipeline with verified nutrition databases (USDA, WHO) stored in IBM Cloud Object Storage, enabling evidence-based dietary recommendations with source citations.</a:t>
            </a:r>
            <a:endParaRPr lang="en-US" sz="1133" dirty="0"/>
          </a:p>
        </p:txBody>
      </p:sp>
      <p:sp>
        <p:nvSpPr>
          <p:cNvPr id="30" name="Shape 28"/>
          <p:cNvSpPr/>
          <p:nvPr/>
        </p:nvSpPr>
        <p:spPr>
          <a:xfrm>
            <a:off x="243840" y="48524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3840" y="48524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11040" y="49743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11040" y="49743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67" dirty="0"/>
          </a:p>
        </p:txBody>
      </p:sp>
      <p:sp>
        <p:nvSpPr>
          <p:cNvPr id="34" name="Text 32"/>
          <p:cNvSpPr/>
          <p:nvPr/>
        </p:nvSpPr>
        <p:spPr>
          <a:xfrm>
            <a:off x="365760" y="49743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 Provider Integration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365760" y="54376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healthcare APIs to allow doctors to set fitness boundaries for patients with chronic conditions, with Fitness Buddy respecting those constraints during plan generation.</a:t>
            </a:r>
            <a:endParaRPr lang="en-US" sz="1133" dirty="0"/>
          </a:p>
        </p:txBody>
      </p:sp>
      <p:sp>
        <p:nvSpPr>
          <p:cNvPr id="36" name="Shape 34"/>
          <p:cNvSpPr/>
          <p:nvPr/>
        </p:nvSpPr>
        <p:spPr>
          <a:xfrm>
            <a:off x="6217920" y="48524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48524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85120" y="49743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85120" y="49743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67" dirty="0"/>
          </a:p>
        </p:txBody>
      </p:sp>
      <p:sp>
        <p:nvSpPr>
          <p:cNvPr id="40" name="Text 38"/>
          <p:cNvSpPr/>
          <p:nvPr/>
        </p:nvSpPr>
        <p:spPr>
          <a:xfrm>
            <a:off x="6339840" y="49743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Multi-Agent Specialization</a:t>
            </a:r>
            <a:endParaRPr lang="en-US" sz="1467" dirty="0"/>
          </a:p>
        </p:txBody>
      </p:sp>
      <p:sp>
        <p:nvSpPr>
          <p:cNvPr id="41" name="Text 39"/>
          <p:cNvSpPr/>
          <p:nvPr/>
        </p:nvSpPr>
        <p:spPr>
          <a:xfrm>
            <a:off x="6339840" y="54376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from single-agent to multi-agent architecture on watsonx Orchestrate — dedicated agents for workout planning, nutrition, mental wellness, and progress tracking — each specializing in their domain.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1513</Words>
  <Application>Microsoft Office PowerPoint</Application>
  <PresentationFormat>Widescreen</PresentationFormat>
  <Paragraphs>216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Ashish Raj</cp:lastModifiedBy>
  <cp:revision>24</cp:revision>
  <dcterms:created xsi:type="dcterms:W3CDTF">2025-07-08T05:06:56Z</dcterms:created>
  <dcterms:modified xsi:type="dcterms:W3CDTF">2026-06-03T16:13:03Z</dcterms:modified>
</cp:coreProperties>
</file>